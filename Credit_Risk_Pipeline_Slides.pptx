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TECHNOLOGY OF CAMBODIA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Applied Mathematics and Statistics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Credit Risk Modelling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Technology Stack  ·  Six DAG Pipelines  ·  IFRS 9 / Basel III  ·  RAG Chat Interface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3337560"/>
            <a:ext cx="6949440" cy="502920"/>
          </a:xfrm>
          <a:prstGeom prst="rect">
            <a:avLst/>
          </a:prstGeom>
          <a:solidFill>
            <a:srgbClr val="002244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337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SOPHON Rachana  ·  LOT Soklang  ·  DUK Pagnarith  ·  LENG Devid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Lecturer Vesal Khean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20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credit risk papers produce models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ignore production infrastructure.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737360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691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orchestration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2121408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075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reproducible audit trail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505456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4597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scoring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889504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843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PSI/CSI model monitoring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273552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227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regulatory reporting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Gini of 0.387 is worthless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pipeline around it."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960120"/>
            <a:ext cx="457200" cy="54864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960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960120"/>
            <a:ext cx="4023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960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6-DAG Airflow pipeline: raw CSV → regulatory outputs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1737360"/>
            <a:ext cx="457200" cy="54864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737360"/>
            <a:ext cx="4023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5-schema PostgreSQL medallion data warehouse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2514600"/>
            <a:ext cx="457200" cy="54864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514600"/>
            <a:ext cx="4023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514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calibrate PD, LGD, and EAD models tracked in MLflow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3291840"/>
            <a:ext cx="457200" cy="54864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3291840"/>
            <a:ext cx="4023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291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IFRS 9 ECL and Basel III AIRB capital per loan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4069080"/>
            <a:ext cx="457200" cy="54864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4069080"/>
            <a:ext cx="4023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RAG chat interface for natural language data queries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Where It All Starts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Club peer-to-peer lending data · 2007–2018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2,260,668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89304"/>
            <a:ext cx="192024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1920240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896112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289304"/>
            <a:ext cx="192024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1920240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96112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GB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289304"/>
            <a:ext cx="192024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Size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822960"/>
            <a:ext cx="192024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896112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Years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1289304"/>
            <a:ext cx="192024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– 2018</a:t>
            </a:r>
            <a:endParaRPr lang="en-US" sz="900" dirty="0"/>
          </a:p>
        </p:txBody>
      </p:sp>
      <p:pic>
        <p:nvPicPr>
          <p:cNvPr id="17" name="Image 0" descr="/sessions/brave-relaxed-clarke/mnt/project 2026/I4_risk_management/data/reports/L01_loan_volume_default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19072"/>
            <a:ext cx="8595360" cy="27889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274320" y="4645152"/>
            <a:ext cx="2743200" cy="3840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831K loans (2007–2015) · DR 18.62%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0" y="4645152"/>
            <a:ext cx="2743200" cy="384048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(OOT)  538K loans (2016–2018) · DR 25.27%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040880" y="4645152"/>
            <a:ext cx="1828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645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shift  +6.65 pp ↑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We Built — Five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Docker services · docker compose up -d  and the whole platform is running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chosen deliberately — one concern per layer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tech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a Lifecycle — The Medallion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PostgreSQL schemas · data only moves forward, never backward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medallio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82296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526280"/>
            <a:ext cx="2468880" cy="38404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26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raw · append-only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29000" y="4526280"/>
            <a:ext cx="2468880" cy="384048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4526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 cleaned · validated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4526280"/>
            <a:ext cx="2468880" cy="384048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4526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models · risk outputs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Pipelines — One for Each Engineering Concern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DAG owns exactly one stage · DAGs are sequentially dependent, never skip a step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dag_depend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04672"/>
            <a:ext cx="640080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" y="8046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DAG-01  Ingest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" y="14904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DAG-02  Validate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" y="21762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DAG-03  Features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" y="28620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DAG-04  Train / Register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" y="35478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DAG-05  Score / ECL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" y="42336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DAG-06  Monitor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→ provisions and capital in under 3 minutes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dat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The Discipline That Protects the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raw predictors → 56 WoE dummy variables · IV &gt; 0.02 threshold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woe_encoding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32104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 bins fitted on 831,152 TRAINING loans ONLY — applied unchanged to 538,515 OOT test loans to prevent look-ahead bias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 Scorecard — Does It Actually Work?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538,515 loans the model never saw during training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920240" cy="74980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77824"/>
            <a:ext cx="19202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54557"/>
            <a:ext cx="192024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(OOT)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1920240" cy="74980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877824"/>
            <a:ext cx="19202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254557"/>
            <a:ext cx="192024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(OOT)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04672"/>
            <a:ext cx="1920240" cy="7498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77824"/>
            <a:ext cx="19202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254557"/>
            <a:ext cx="192024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(OOT)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804672"/>
            <a:ext cx="1920240" cy="7498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877824"/>
            <a:ext cx="19202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1254557"/>
            <a:ext cx="1920240" cy="26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900" dirty="0"/>
          </a:p>
        </p:txBody>
      </p:sp>
      <p:pic>
        <p:nvPicPr>
          <p:cNvPr id="17" name="Image 0" descr="/sessions/brave-relaxed-clarke/mnt/project 2026/I4_risk_management/docs/images/pd_scorecard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64208"/>
            <a:ext cx="859536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Making the Model Tell the Truth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Hosmer-Lemeshow statistic dropped 96% after intercept shift · model now matches reality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56616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20.18%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PD (under-predicts default)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77640" y="13258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+0.3204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(intercept shift)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13632" y="1664208"/>
            <a:ext cx="731520" cy="0"/>
          </a:xfrm>
          <a:prstGeom prst="line">
            <a:avLst/>
          </a:prstGeom>
          <a:noFill/>
          <a:ln w="31750">
            <a:solidFill>
              <a:srgbClr val="B478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960120"/>
            <a:ext cx="3566160" cy="14173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005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25.27%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3035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OOT Default Rate (calibration target)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7315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60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P_calib = σ( logit(P_raw) + δ )    where    δ = +0.3204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7315200" cy="5943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91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Hosmer-Lemeshow:  10,039  →  403  after calibration  (−96%)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PD → 25.27% (IFRS 9 current conditions)     ·     TtC PD → 15.0% long-run DR (Basel III through-the-cycle)</a:t>
            </a:r>
            <a:endParaRPr lang="en-US" sz="1000" dirty="0"/>
          </a:p>
        </p:txBody>
      </p:sp>
      <p:pic>
        <p:nvPicPr>
          <p:cNvPr id="18" name="Image 0" descr="/sessions/brave-relaxed-clarke/mnt/project 2026/I4_risk_management/data/reports/L02_calibration_reliability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526280"/>
            <a:ext cx="41148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Given Default — Two Models, One Answer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50.2% of defaults recovered nothing · bimodal recovery distribution needs two stages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lgd_two_s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544568"/>
            <a:ext cx="192024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50.2%  Zero Recovery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4544568"/>
            <a:ext cx="192024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316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92.19%  Mean LGD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4544568"/>
            <a:ext cx="1920240" cy="411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93.76%  Downturn LGD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20840" y="4544568"/>
            <a:ext cx="1920240" cy="411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4544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136K  Defaulted Loans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Produced — The Numbers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538,515 loans scored · computed loan-by-loan in under 3 minutes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10972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$3.26B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Exposure at Default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11480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96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$0.808B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54880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Expected Loss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4114800" cy="109728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94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$1.646B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Weighted ECL (3-stage)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4114800" cy="1097280"/>
          </a:xfrm>
          <a:prstGeom prst="rect">
            <a:avLst/>
          </a:prstGeom>
          <a:solidFill>
            <a:srgbClr val="27496D"/>
          </a:solidFill>
          <a:ln w="12700">
            <a:solidFill>
              <a:srgbClr val="2749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94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$1.13B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Minimum Capital</a:t>
            </a:r>
            <a:endParaRPr lang="en-US" sz="1100" dirty="0"/>
          </a:p>
        </p:txBody>
      </p:sp>
      <p:pic>
        <p:nvPicPr>
          <p:cNvPr id="17" name="Image 0" descr="/sessions/brave-relaxed-clarke/mnt/project 2026/I4_risk_management/data/reports/L03_expected_loss_by_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337560"/>
            <a:ext cx="859536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— The Cost of Looking Forward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ECL is $838M more than 12-month EL — the cost of ignoring future default risk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ata/reports/L03_ifrs9_ecl_sta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630936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914400"/>
            <a:ext cx="219456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960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0" y="1353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ECL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766560" y="1920240"/>
            <a:ext cx="2194560" cy="86868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1965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ECL (SICR)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66560" y="2926080"/>
            <a:ext cx="219456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66560" y="3364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ECL (default)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66560" y="3977640"/>
            <a:ext cx="2194560" cy="7315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+$838M uplift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+104% vs 12-month EL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Governed — MLflow Registry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reaches production without passing quality gates and human sign-off (SR 11-7 aligned)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417320" cy="14173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9344" y="1709928"/>
            <a:ext cx="3383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005840"/>
            <a:ext cx="1417320" cy="1417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005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9544" y="1709928"/>
            <a:ext cx="3383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05840"/>
            <a:ext cx="141732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05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9744" y="1709928"/>
            <a:ext cx="3383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005840"/>
            <a:ext cx="1417320" cy="141732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05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9944" y="1709928"/>
            <a:ext cx="3383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005840"/>
            <a:ext cx="1417320" cy="1417320"/>
          </a:xfrm>
          <a:prstGeom prst="rect">
            <a:avLst/>
          </a:prstGeom>
          <a:solidFill>
            <a:srgbClr val="E68A00"/>
          </a:solidFill>
          <a:ln w="12700">
            <a:solidFill>
              <a:srgbClr val="E6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005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0144" y="1709928"/>
            <a:ext cx="3383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005840"/>
            <a:ext cx="1417320" cy="14173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1005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859536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51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Gates:  AUC &gt; 0.65  ·  Brier ≤ 0.20  ·  Monotonic decile ordering  ·  p-values &lt; 0.05  ·  KS &gt; 0.20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DAG-05 always loads the current Production model version for batch scoring — no hardcoded paths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7947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MLflow Experiments:  PD-Scorecard  ·  LGD-Stage1  ·  LGD-Stage2  ·  EAD-CCF  ·  Portfolio-EL  ·  IFRS9-ECL  ·  Basel-Capital  ·  ScoreCard-Monitoring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Champion-Challenger already implemented: incumbent vs. challenger evaluated monthly on latest OOT window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Monitors Itself — PSI Alert Fired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DAG-06 runs at 06:00 daily · automatic alert when population shifts beyond threshold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psi_monit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370832"/>
            <a:ext cx="28346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370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&lt; 0.10  →  STABLE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4370832"/>
            <a:ext cx="2834640" cy="50292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4370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– 0.25  →  MONITOR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4370832"/>
            <a:ext cx="28346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4370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&gt; 0.25  →  ALERT  ← We are here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804672"/>
            <a:ext cx="292608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80467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PSI = 0.282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threshold 0.25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Credit Decisions — Any Loan, Under 200 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/score  →  Full credit decision returned before the applicant finishes typing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9496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"pd":              0.0421,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"lgd":             0.6200,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"ead":             12500.00,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"expected_loss":   326.55,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"credit_score":    672,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"risk_class":      "BB",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0779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"decision":        "APPROVE",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6382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"ifrs9_stage":     1,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1985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"adverse_action":  [],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"model_version":   "2.0",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"calc_date":       "2026-06-07"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8346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280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1847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(FastAPI)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450592"/>
            <a:ext cx="28346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5420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3108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Hit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712464"/>
            <a:ext cx="2834640" cy="100584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8039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4370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Action Codes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Pipeline Anything — RAG Chat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LangChain · DeepSeek · Streamlit · data never leaves the environment</a:t>
            </a:r>
            <a:endParaRPr lang="en-US" sz="1000" dirty="0"/>
          </a:p>
        </p:txBody>
      </p:sp>
      <p:pic>
        <p:nvPicPr>
          <p:cNvPr id="5" name="Image 0" descr="/sessions/brave-relaxed-clarke/mnt/project 2026/I4_risk_management/docs/images/ra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804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234440"/>
            <a:ext cx="3017520" cy="804672"/>
          </a:xfrm>
          <a:prstGeom prst="round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234440"/>
            <a:ext cx="301752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our Gini coefficient on OOT data?"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240280"/>
            <a:ext cx="3017520" cy="804672"/>
          </a:xfrm>
          <a:prstGeom prst="round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240280"/>
            <a:ext cx="301752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the LGD two-stage model."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246120"/>
            <a:ext cx="3017520" cy="804672"/>
          </a:xfrm>
          <a:prstGeom prst="roundRect">
            <a:avLst>
              <a:gd name="adj" fmla="val 13636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3246120"/>
            <a:ext cx="301752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"Average expected loss for Grade G loans?"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4279392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4279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 PDF chunks  +  7,000+ loan-level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in ChromaDB vector store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94360" cy="105156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960120"/>
            <a:ext cx="78181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515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whole thing — end to 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Cleaning · Feature Engineering · Training · Calibration · Scoring · Monitoring · Real-Time API · RAG 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594360" cy="105156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8600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05840" y="2286000"/>
            <a:ext cx="78181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3774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decision has a business consequence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81635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projection saved 53 s/run · OOT-only WoE prevented look-ahead bias · Calibration corrected a 5 pp prediction error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594360" cy="105156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61188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05840" y="3611880"/>
            <a:ext cx="78181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70332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= 0.282 is a success, not a failure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4223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firing means the monitoring system is working exactly as designed · The model can now be retrained with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7800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demo the live Streamlit dashboard or the RAG chat interface.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880360"/>
            <a:ext cx="6400800" cy="502920"/>
          </a:xfrm>
          <a:prstGeom prst="rect">
            <a:avLst/>
          </a:prstGeom>
          <a:solidFill>
            <a:srgbClr val="002244"/>
          </a:solidFill>
          <a:ln w="12700">
            <a:solidFill>
              <a:srgbClr val="B47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80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SOPHON Rachana  ·  LOT Soklang  ·  DUK Pagnarith  ·  LENG Devid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Lecturer Vesal Khean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Applied Mathematics and Statistics  ·  ITC  ·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Institute of Technology of Cambodia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Pipeline for Credit Risk Modelling</dc:title>
  <dc:subject>PptxGenJS Presentation</dc:subject>
  <dc:creator>PptxGenJS</dc:creator>
  <cp:lastModifiedBy>PptxGenJS</cp:lastModifiedBy>
  <cp:revision>1</cp:revision>
  <dcterms:created xsi:type="dcterms:W3CDTF">2026-06-15T14:08:41Z</dcterms:created>
  <dcterms:modified xsi:type="dcterms:W3CDTF">2026-06-15T14:08:41Z</dcterms:modified>
</cp:coreProperties>
</file>