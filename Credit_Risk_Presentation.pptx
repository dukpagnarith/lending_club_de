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515600" y="0"/>
            <a:ext cx="1673352" cy="109728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47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Credit Risk Modeling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4805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0C4E8"/>
                </a:solidFill>
                <a:latin typeface="Calibri"/>
              </a:rPr>
              <a:t>Probability of Default · Loss Given Default · Expected Loss · PSI Monitoring
Lending Club Dataset 2007–2018  |  2.26M Loans  |  $3.26B Portfolio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" y="6492240"/>
            <a:ext cx="12024360" cy="36576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10528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B4D8"/>
                </a:solidFill>
                <a:latin typeface="Calibri"/>
              </a:rPr>
              <a:t>Credit Risk Modeling System  |  Lending Club 2007–2018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806440"/>
            <a:ext cx="11430000" cy="18288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0C4E8"/>
                </a:solidFill>
                <a:latin typeface="Calibri"/>
              </a:rPr>
              <a:t>A complete end-to-end credit risk pipeline: data → model → scorecard → production API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0"/>
            <a:ext cx="12097512" cy="7772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Agenda — 60-Minute Session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16459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0B4D8"/>
                </a:solidFill>
                <a:latin typeface="Calibri"/>
              </a:rPr>
              <a:t>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6492240"/>
            <a:ext cx="12097512" cy="3657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Credit Risk Modeling System  |  Lending Club 2007–2018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05840"/>
            <a:ext cx="11338560" cy="8686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11556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0:00 – 0:10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1097280"/>
            <a:ext cx="777240" cy="347472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04288" y="1115568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L01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107899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Dataset &amp; Preprocessing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146304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D8F0"/>
                </a:solidFill>
                <a:latin typeface="Calibri"/>
              </a:rPr>
              <a:t>2.26M rows · 151 columns · WoE · OOT split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011680"/>
            <a:ext cx="11338560" cy="86868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12140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0:10 – 0:28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0" y="2103120"/>
            <a:ext cx="777240" cy="347472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04288" y="2121408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L02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208483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PD Model &amp; Scorecard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246888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D8F0"/>
                </a:solidFill>
                <a:latin typeface="Calibri"/>
              </a:rPr>
              <a:t>Logistic regression · Gini 0.39 · 300–850 scorecard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017520"/>
            <a:ext cx="11338560" cy="868680"/>
          </a:xfrm>
          <a:prstGeom prst="rect">
            <a:avLst/>
          </a:prstGeom>
          <a:solidFill>
            <a:srgbClr val="17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12724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0:28 – 0:44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0" y="3108960"/>
            <a:ext cx="777240" cy="347472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04288" y="3127248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L03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309067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LGD / EAD / Expected Loss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347472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D8F0"/>
                </a:solidFill>
                <a:latin typeface="Calibri"/>
              </a:rPr>
              <a:t>2-stage LGD · EAD · $383M portfolio EL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023360"/>
            <a:ext cx="11338560" cy="868680"/>
          </a:xfrm>
          <a:prstGeom prst="rect">
            <a:avLst/>
          </a:prstGeom>
          <a:solidFill>
            <a:srgbClr val="134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13308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0:44 – 0:54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0" y="4114800"/>
            <a:ext cx="777240" cy="347472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304288" y="4133088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L04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409651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PSI Monitoring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448056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D8F0"/>
                </a:solidFill>
                <a:latin typeface="Calibri"/>
              </a:rPr>
              <a:t>Score PSI 0.109 · Drift detection · Action framework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5029200"/>
            <a:ext cx="11338560" cy="8686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513892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0:54 – 1:00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86000" y="5120640"/>
            <a:ext cx="777240" cy="347472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304288" y="5138928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LIVE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0" y="510235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Production Pipeline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0" y="548640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D8F0"/>
                </a:solidFill>
                <a:latin typeface="Calibri"/>
              </a:rPr>
              <a:t>FastAPI · MLflow · Airflow · Docker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0"/>
            <a:ext cx="12097512" cy="7772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Why Credit Risk Modeling?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16459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0B4D8"/>
                </a:solidFill>
                <a:latin typeface="Calibri"/>
              </a:rPr>
              <a:t>Context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6492240"/>
            <a:ext cx="12097512" cy="3657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Credit Risk Modeling System  |  Lending Club 2007–2018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9144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D1B2A"/>
                </a:solidFill>
                <a:latin typeface="Calibri"/>
              </a:rPr>
              <a:t>Regulatory &amp; Business Drivers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554480"/>
            <a:ext cx="3657600" cy="192024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664208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IFRS 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24028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D8F0"/>
                </a:solidFill>
                <a:latin typeface="Calibri"/>
              </a:rPr>
              <a:t>Expected Credit Loss provisioning.
Stage 1/2/3 classification based on PD.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554480"/>
            <a:ext cx="3657600" cy="1920240"/>
          </a:xfrm>
          <a:prstGeom prst="rect">
            <a:avLst/>
          </a:prstGeom>
          <a:solidFill>
            <a:srgbClr val="1A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664208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Basel III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24028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D8F0"/>
                </a:solidFill>
                <a:latin typeface="Calibri"/>
              </a:rPr>
              <a:t>Capital requirements linked to PD,
LGD and EAD via RWA × 8% formula.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554480"/>
            <a:ext cx="3657600" cy="1920240"/>
          </a:xfrm>
          <a:prstGeom prst="rect">
            <a:avLst/>
          </a:prstGeom>
          <a:solidFill>
            <a:srgbClr val="195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664208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SR 11-7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24028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D8F0"/>
                </a:solidFill>
                <a:latin typeface="Calibri"/>
              </a:rPr>
              <a:t>Model risk governance: full audit trail,
independent validation, monitoring.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6576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D1B2A"/>
                </a:solidFill>
                <a:latin typeface="Calibri"/>
              </a:rPr>
              <a:t>Business Value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160520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  <a:latin typeface="Calibri"/>
              </a:rPr>
              <a:t>▸  Reduce credit losses by identifying high-risk borrowers before approval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599431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  <a:latin typeface="Calibri"/>
              </a:rPr>
              <a:t>▸  Optimize portfolio ROI: approve loans where interest income &gt; expected loss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038344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  <a:latin typeface="Calibri"/>
              </a:rPr>
              <a:t>▸  Quantify provisions: how much capital to set aside for future defaults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477256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  <a:latin typeface="Calibri"/>
              </a:rPr>
              <a:t>▸  Early warning: PSI monitoring detects population drift before losses materialize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0"/>
            <a:ext cx="12097512" cy="7772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The Lending Club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16459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0B4D8"/>
                </a:solidFill>
                <a:latin typeface="Calibri"/>
              </a:rPr>
              <a:t>Dataset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6492240"/>
            <a:ext cx="12097512" cy="3657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Credit Risk Modeling System  |  Lending Club 2007–2018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60120"/>
            <a:ext cx="2651760" cy="13716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69848"/>
            <a:ext cx="24688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78D4"/>
                </a:solidFill>
                <a:latin typeface="Calibri"/>
              </a:rPr>
              <a:t>2.26M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37360"/>
            <a:ext cx="2468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  <a:latin typeface="Calibri"/>
              </a:rPr>
              <a:t>Total Loan Applications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960120"/>
            <a:ext cx="2651760" cy="13716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1069848"/>
            <a:ext cx="24688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78D4"/>
                </a:solidFill>
                <a:latin typeface="Calibri"/>
              </a:rPr>
              <a:t>151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1737360"/>
            <a:ext cx="2468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  <a:latin typeface="Calibri"/>
              </a:rPr>
              <a:t>Raw Columns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960120"/>
            <a:ext cx="2651760" cy="13716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79" y="1069848"/>
            <a:ext cx="24688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78D4"/>
                </a:solidFill>
                <a:latin typeface="Calibri"/>
              </a:rPr>
              <a:t>1.6 GB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79" y="1737360"/>
            <a:ext cx="2468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  <a:latin typeface="Calibri"/>
              </a:rPr>
              <a:t>Raw CSV Size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69680" y="960120"/>
            <a:ext cx="2651760" cy="13716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19" y="1069848"/>
            <a:ext cx="24688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78D4"/>
                </a:solidFill>
                <a:latin typeface="Calibri"/>
              </a:rPr>
              <a:t>2007–2018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19" y="1737360"/>
            <a:ext cx="2468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  <a:latin typeface="Calibri"/>
              </a:rPr>
              <a:t>Date Range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5603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1B2A"/>
                </a:solidFill>
                <a:latin typeface="Calibri"/>
              </a:rPr>
              <a:t>Out-of-Time Split Strategy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017520"/>
            <a:ext cx="7498079" cy="8229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127248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TRAIN  (2007–2015)   831,051 loans   Default rate: 18.62%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09560" y="3017520"/>
            <a:ext cx="3657600" cy="8229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1000" y="3127248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OOT TEST  (2016–2018)   538,515 loans   DR: 25.27%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3977639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475569"/>
                </a:solidFill>
                <a:latin typeface="Calibri"/>
              </a:rPr>
              <a:t>← No future data leaks into training 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45720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Column Journey: 151 raw  →  57 dropped  →  56 WoE dummy variables for logistic regression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120640"/>
            <a:ext cx="1828800" cy="1188720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21208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100% null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7150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75569"/>
                </a:solidFill>
                <a:latin typeface="Calibri"/>
              </a:rPr>
              <a:t>Dropped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03504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Calibri"/>
              </a:rPr>
              <a:t>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31720" y="5120640"/>
            <a:ext cx="1828800" cy="1188720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423160" y="521208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Identifiers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23160" y="57150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75569"/>
                </a:solidFill>
                <a:latin typeface="Calibri"/>
              </a:rPr>
              <a:t>Dropped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23160" y="603504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Calibri"/>
              </a:rPr>
              <a:t>10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97680" y="5120640"/>
            <a:ext cx="1828800" cy="1188720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89120" y="521208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Post-app leakage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0" y="57150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75569"/>
                </a:solidFill>
                <a:latin typeface="Calibri"/>
              </a:rPr>
              <a:t>Dropped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603504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Calibri"/>
              </a:rPr>
              <a:t>21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63640" y="5120640"/>
            <a:ext cx="1828800" cy="1188720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55079" y="521208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Near-zero var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5079" y="57150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75569"/>
                </a:solidFill>
                <a:latin typeface="Calibri"/>
              </a:rPr>
              <a:t>Dropped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5079" y="603504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Calibri"/>
              </a:rPr>
              <a:t>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9600" y="5120640"/>
            <a:ext cx="1828800" cy="1188720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21040" y="521208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Joint/hardship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1040" y="57150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75569"/>
                </a:solidFill>
                <a:latin typeface="Calibri"/>
              </a:rPr>
              <a:t>Dropped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21040" y="603504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Calibri"/>
              </a:rPr>
              <a:t>17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195560" y="5120640"/>
            <a:ext cx="1828800" cy="1188720"/>
          </a:xfrm>
          <a:prstGeom prst="rect">
            <a:avLst/>
          </a:prstGeom>
          <a:solidFill>
            <a:srgbClr val="00B894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287000" y="521208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WoE Dummies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287000" y="57150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8D4"/>
                </a:solidFill>
                <a:latin typeface="Calibri"/>
              </a:rPr>
              <a:t>KEPT → 56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287000" y="603504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515600" y="0"/>
            <a:ext cx="1673352" cy="109728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2926080" cy="38404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NOTEBOOK 1 OF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11247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L01 — Data Preprocessing
&amp; Feature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4805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0C4E8"/>
                </a:solidFill>
                <a:latin typeface="Calibri"/>
              </a:rPr>
              <a:t>Cleaning · Format conversions · WoE · Dummy variables · OOT split</a:t>
            </a:r>
          </a:p>
        </p:txBody>
      </p:sp>
      <p:sp>
        <p:nvSpPr>
          <p:cNvPr id="8" name="Rectangle 7"/>
          <p:cNvSpPr/>
          <p:nvPr/>
        </p:nvSpPr>
        <p:spPr>
          <a:xfrm>
            <a:off x="164592" y="6492240"/>
            <a:ext cx="12024360" cy="36576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10528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B4D8"/>
                </a:solidFill>
                <a:latin typeface="Calibri"/>
              </a:rPr>
              <a:t>Credit Risk Modeling System  |  Lending Club 2007–2018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0"/>
            <a:ext cx="12097512" cy="7772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7-Step Data Cleaning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16459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0B4D8"/>
                </a:solidFill>
                <a:latin typeface="Calibri"/>
              </a:rPr>
              <a:t>L01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6492240"/>
            <a:ext cx="12097512" cy="3657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Credit Risk Modeling System  |  Lending Club 2007–2018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9144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1">
                <a:solidFill>
                  <a:srgbClr val="E74C3C"/>
                </a:solidFill>
                <a:latin typeface="Calibri"/>
              </a:rPr>
              <a:t>Critical: Create target variables BEFORE dropping leakage columns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417320"/>
            <a:ext cx="502920" cy="5303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472184"/>
            <a:ext cx="502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45389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  <a:latin typeface="Calibri"/>
              </a:rPr>
              <a:t>Create Targets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1453896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good_bad, recovery_rate, CCF from raw columns before any drops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1947672"/>
            <a:ext cx="109728" cy="1554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103120"/>
            <a:ext cx="502920" cy="53035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157984"/>
            <a:ext cx="502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13969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  <a:latin typeface="Calibri"/>
              </a:rPr>
              <a:t>Drop 100%-null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2139696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8 columns with no data whatsoever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633472"/>
            <a:ext cx="109728" cy="1554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2788920"/>
            <a:ext cx="502920" cy="53035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2843784"/>
            <a:ext cx="502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282549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  <a:latin typeface="Calibri"/>
              </a:rPr>
              <a:t>Drop Identifiers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1880" y="2825496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id, url, emp_title, zip_code — no predictive value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3319272"/>
            <a:ext cx="109728" cy="1554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3474720"/>
            <a:ext cx="502920" cy="53035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3529584"/>
            <a:ext cx="502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351129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  <a:latin typeface="Calibri"/>
              </a:rPr>
              <a:t>Drop Leakage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11880" y="3511296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21 post-origination cols: total_pymnt, recoveries, last_fico…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4005072"/>
            <a:ext cx="109728" cy="1554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4160520"/>
            <a:ext cx="502920" cy="53035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4215383"/>
            <a:ext cx="502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419709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  <a:latin typeface="Calibri"/>
              </a:rPr>
              <a:t>Near-zero variance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11880" y="4197096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8 cols: tax_liens, acc_now_delinq — near-constant values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4690872"/>
            <a:ext cx="109728" cy="1554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65760" y="4846320"/>
            <a:ext cx="502920" cy="53035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4901183"/>
            <a:ext cx="502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488289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  <a:latin typeface="Calibri"/>
              </a:rPr>
              <a:t>Joint/Hardship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11880" y="4882896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17 cols: annual_inc_joint, hardship_* — &gt;80% null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5376672"/>
            <a:ext cx="109728" cy="1554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5532120"/>
            <a:ext cx="502920" cy="530352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5586983"/>
            <a:ext cx="502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" y="556869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  <a:latin typeface="Calibri"/>
              </a:rPr>
              <a:t>Format Conversions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11880" y="5568696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term '36 months'→36  ·  int_rate 13.99→0.1399  ·  FICO avg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0"/>
            <a:ext cx="12097512" cy="7772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Three Target Variables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16459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0B4D8"/>
                </a:solidFill>
                <a:latin typeface="Calibri"/>
              </a:rPr>
              <a:t>L01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6492240"/>
            <a:ext cx="12097512" cy="3657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Credit Risk Modeling System  |  Lending Club 2007–2018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14400"/>
            <a:ext cx="3657600" cy="53035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PD 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4475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onsolas"/>
              </a:rPr>
              <a:t>good_bad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011680"/>
            <a:ext cx="3383280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10312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0FF"/>
                </a:solidFill>
                <a:latin typeface="Calibri"/>
              </a:rPr>
              <a:t>1 = Fully Paid, 0 = Charged Off / Default / Late 31-120d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83464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F0"/>
                </a:solidFill>
                <a:latin typeface="Calibri"/>
              </a:rPr>
              <a:t>Binary classification — logistic regression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52044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F0"/>
                </a:solidFill>
                <a:latin typeface="Calibri"/>
              </a:rPr>
              <a:t>18.62% bad rate (train)  ·  25.27% (OOT test)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914400"/>
            <a:ext cx="3657600" cy="53035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10058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LGD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144475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onsolas"/>
              </a:rPr>
              <a:t>recovery_rate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34840" y="2011680"/>
            <a:ext cx="3383280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210312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0FF"/>
                </a:solidFill>
                <a:latin typeface="Calibri"/>
              </a:rPr>
              <a:t>Recoveries / Funded Amount — clipped to [0, 1]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283464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F0"/>
                </a:solidFill>
                <a:latin typeface="Calibri"/>
              </a:rPr>
              <a:t>Only computed for defaulted loans (good_bad = 0)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52044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F0"/>
                </a:solidFill>
                <a:latin typeface="Calibri"/>
              </a:rPr>
              <a:t>23.9% have zero recovery (bimodal → 2-stage model)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914400"/>
            <a:ext cx="3657600" cy="53035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0" y="10058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EAD Target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144475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onsolas"/>
              </a:rPr>
              <a:t>ccf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66760" y="2011680"/>
            <a:ext cx="3383280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210312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0FF"/>
                </a:solidFill>
                <a:latin typeface="Calibri"/>
              </a:rPr>
              <a:t>(Funded Amount − Total Paid) / Funded Amount → [0,1]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283464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F0"/>
                </a:solidFill>
                <a:latin typeface="Calibri"/>
              </a:rPr>
              <a:t>Credit Conversion Factor: fraction outstanding at default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352044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F0"/>
                </a:solidFill>
                <a:latin typeface="Calibri"/>
              </a:rPr>
              <a:t>Mean CCF train = 0.39  ·  Mean CCF test = 0.56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  <a:latin typeface="Calibri"/>
              </a:rPr>
              <a:t>EL = PD × LGD × EAD    where    LGD = 1 − Recovery Rate    and    EAD = CCF × Funded Amount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0"/>
            <a:ext cx="12097512" cy="7772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Weight of Evidence (WoE) &amp; Information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16459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0B4D8"/>
                </a:solidFill>
                <a:latin typeface="Calibri"/>
              </a:rPr>
              <a:t>L01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6492240"/>
            <a:ext cx="12097512" cy="3657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Credit Risk Modeling System  |  Lending Club 2007–2018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14400"/>
            <a:ext cx="7315200" cy="16459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051560"/>
            <a:ext cx="6766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onsolas"/>
              </a:rPr>
              <a:t>WoE_i  =  ln( %Goods_i / %Bads_i 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627632"/>
            <a:ext cx="6766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A8E8"/>
                </a:solidFill>
                <a:latin typeface="Consolas"/>
              </a:rPr>
              <a:t>IV  =  Σ ( %Goods_i − %Bads_i ) × WoE_i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3840" y="914400"/>
            <a:ext cx="4114800" cy="1645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1000" y="98755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2A"/>
                </a:solidFill>
                <a:latin typeface="Calibri"/>
              </a:rPr>
              <a:t>IV     Strength    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1316736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74C3C"/>
                </a:solidFill>
                <a:latin typeface="Calibri"/>
              </a:rPr>
              <a:t>&lt; 0.02     Useless      Drop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1563624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6A00"/>
                </a:solidFill>
                <a:latin typeface="Calibri"/>
              </a:rPr>
              <a:t>0.02–0.10  Weak         Consider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181051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B894"/>
                </a:solidFill>
                <a:latin typeface="Calibri"/>
              </a:rPr>
              <a:t>0.10–0.30  Medium       Keep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20574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B894"/>
                </a:solidFill>
                <a:latin typeface="Calibri"/>
              </a:rPr>
              <a:t>0.30–0.50  Strong       Keep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2304288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74C3C"/>
                </a:solidFill>
                <a:latin typeface="Calibri"/>
              </a:rPr>
              <a:t>&gt; 0.50     Suspicious   Check leakage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27432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  <a:latin typeface="Calibri"/>
              </a:rPr>
              <a:t>Key IV results from training data (831K loans)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246120"/>
            <a:ext cx="2743200" cy="9144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3375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  <a:latin typeface="Consolas"/>
              </a:rPr>
              <a:t>grade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794759"/>
            <a:ext cx="1981200" cy="20116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29840" y="3794759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74C3C"/>
                </a:solidFill>
                <a:latin typeface="Calibri"/>
              </a:rPr>
              <a:t>IV = 0.52  Check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91840" y="3246120"/>
            <a:ext cx="2743200" cy="9144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29000" y="33375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  <a:latin typeface="Consolas"/>
              </a:rPr>
              <a:t>int_rate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29000" y="3794759"/>
            <a:ext cx="1447800" cy="201168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22520" y="3794759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B894"/>
                </a:solidFill>
                <a:latin typeface="Calibri"/>
              </a:rPr>
              <a:t>IV = 0.38  Strong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3246120"/>
            <a:ext cx="2743200" cy="9144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33375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  <a:latin typeface="Consolas"/>
              </a:rPr>
              <a:t>fico_score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5080" y="3794759"/>
            <a:ext cx="1181100" cy="201168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81899" y="3794759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B894"/>
                </a:solidFill>
                <a:latin typeface="Calibri"/>
              </a:rPr>
              <a:t>IV = 0.31  Strong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0" y="3246120"/>
            <a:ext cx="2743200" cy="9144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81160" y="33375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  <a:latin typeface="Consolas"/>
              </a:rPr>
              <a:t>dti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281160" y="3794759"/>
            <a:ext cx="533400" cy="20116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60280" y="3794759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39C12"/>
                </a:solidFill>
                <a:latin typeface="Calibri"/>
              </a:rPr>
              <a:t>IV = 0.14  Medium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4343400"/>
            <a:ext cx="2743200" cy="9144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44348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  <a:latin typeface="Consolas"/>
              </a:rPr>
              <a:t>term_int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4892040"/>
            <a:ext cx="495300" cy="20116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43940" y="48920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39C12"/>
                </a:solidFill>
                <a:latin typeface="Calibri"/>
              </a:rPr>
              <a:t>IV = 0.13  Medium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91840" y="4343400"/>
            <a:ext cx="2743200" cy="9144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29000" y="44348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  <a:latin typeface="Consolas"/>
              </a:rPr>
              <a:t>annual_inc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429000" y="4892040"/>
            <a:ext cx="419100" cy="20116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893820" y="48920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39C12"/>
                </a:solidFill>
                <a:latin typeface="Calibri"/>
              </a:rPr>
              <a:t>IV = 0.11  Medium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17920" y="4343400"/>
            <a:ext cx="2743200" cy="9144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55080" y="44348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  <a:latin typeface="Consolas"/>
              </a:rPr>
              <a:t>revol_util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55080" y="4892040"/>
            <a:ext cx="228600" cy="201168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29400" y="48920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IV = 0.06  Weak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144000" y="4343400"/>
            <a:ext cx="2743200" cy="9144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281160" y="44348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  <a:latin typeface="Consolas"/>
              </a:rPr>
              <a:t>inq_last_6mths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281160" y="4892040"/>
            <a:ext cx="190500" cy="201168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517380" y="48920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IV = 0.05  Weak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0"/>
            <a:ext cx="12097512" cy="7772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Exploratory Data Analysis — Key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16459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0B4D8"/>
                </a:solidFill>
                <a:latin typeface="Calibri"/>
              </a:rPr>
              <a:t>L01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6492240"/>
            <a:ext cx="12097512" cy="3657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Credit Risk Modeling System  |  Lending Club 2007–2018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14400"/>
            <a:ext cx="5486400" cy="53035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005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  <a:latin typeface="Calibri"/>
              </a:rPr>
              <a:t>Default Rate by Grade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308789"/>
            <a:ext cx="530352" cy="44609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8463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71629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  <a:latin typeface="Calibri"/>
              </a:rPr>
              <a:t>6%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44752" y="3924228"/>
            <a:ext cx="530352" cy="830651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44752" y="48463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44752" y="378706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  <a:latin typeface="Calibri"/>
              </a:rPr>
              <a:t>11%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57984" y="3501211"/>
            <a:ext cx="530352" cy="125366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57984" y="48463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57984" y="3364051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  <a:latin typeface="Calibri"/>
              </a:rPr>
              <a:t>16%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71215" y="3032047"/>
            <a:ext cx="530352" cy="172283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71215" y="48463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71215" y="2894887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  <a:latin typeface="Calibri"/>
              </a:rPr>
              <a:t>22%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84448" y="2470589"/>
            <a:ext cx="530352" cy="228429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84448" y="48463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84448" y="2333429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  <a:latin typeface="Calibri"/>
              </a:rPr>
              <a:t>30%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7680" y="1870674"/>
            <a:ext cx="530352" cy="2884205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97680" y="48463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173351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  <a:latin typeface="Calibri"/>
              </a:rPr>
              <a:t>38%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10912" y="1463040"/>
            <a:ext cx="530352" cy="32918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10912" y="48463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10912" y="1325879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  <a:latin typeface="Calibri"/>
              </a:rPr>
              <a:t>43%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589788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75569"/>
                </a:solidFill>
                <a:latin typeface="Calibri"/>
              </a:rPr>
              <a:t>Grade A borrowers default 6× less than Grade 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914400"/>
            <a:ext cx="5577840" cy="53035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10058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  <a:latin typeface="Calibri"/>
              </a:rPr>
              <a:t>FICO Score: Good vs Bad Borrowers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4494997"/>
            <a:ext cx="210312" cy="168442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611112" y="3989671"/>
            <a:ext cx="210312" cy="67376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894576" y="4326555"/>
            <a:ext cx="210312" cy="336884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104888" y="3484345"/>
            <a:ext cx="210312" cy="117909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88352" y="3821229"/>
            <a:ext cx="210312" cy="84221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598664" y="2642134"/>
            <a:ext cx="210312" cy="2021305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882128" y="3315903"/>
            <a:ext cx="210312" cy="1347536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92440" y="2136808"/>
            <a:ext cx="210312" cy="2526631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375904" y="2642134"/>
            <a:ext cx="210312" cy="2021305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586216" y="1968366"/>
            <a:ext cx="210312" cy="2695073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869680" y="1799924"/>
            <a:ext cx="210312" cy="2863515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079992" y="2136808"/>
            <a:ext cx="210312" cy="2526631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363456" y="1463039"/>
            <a:ext cx="210312" cy="320040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573768" y="2642134"/>
            <a:ext cx="210312" cy="2021305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857232" y="1631482"/>
            <a:ext cx="210312" cy="3031957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067544" y="3147461"/>
            <a:ext cx="210312" cy="151597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351008" y="2810576"/>
            <a:ext cx="210312" cy="1852863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561320" y="3652787"/>
            <a:ext cx="210312" cy="101065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844784" y="3484345"/>
            <a:ext cx="210312" cy="1179094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1055096" y="3989671"/>
            <a:ext cx="210312" cy="67376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0800" y="47548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alibri"/>
              </a:rPr>
              <a:t>Mean FICO — Good: 700.1   Bad: 671.4   Gap: 28.7 pts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0" y="51663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▬ Good borrowers   ▬ Bad borrowers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0" y="589788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75569"/>
                </a:solidFill>
                <a:latin typeface="Calibri"/>
              </a:rPr>
              <a:t>■ Good    ■ Bad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0"/>
            <a:ext cx="12097512" cy="7772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L01 —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16459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0B4D8"/>
                </a:solidFill>
                <a:latin typeface="Calibri"/>
              </a:rPr>
              <a:t>L01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6492240"/>
            <a:ext cx="12097512" cy="3657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Credit Risk Modeling System  |  Lending Club 2007–2018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05840"/>
            <a:ext cx="2743200" cy="1463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115568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78D4"/>
                </a:solidFill>
                <a:latin typeface="Calibri"/>
              </a:rPr>
              <a:t>831,051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830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  <a:latin typeface="Calibri"/>
              </a:rPr>
              <a:t>Training Loans
2007–2015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1005840"/>
            <a:ext cx="2743200" cy="1463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1115568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E74C3C"/>
                </a:solidFill>
                <a:latin typeface="Calibri"/>
              </a:rPr>
              <a:t>538,515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17830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  <a:latin typeface="Calibri"/>
              </a:rPr>
              <a:t>OOT Test Loans
2016–2018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005840"/>
            <a:ext cx="2743200" cy="1463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79" y="1115568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B894"/>
                </a:solidFill>
                <a:latin typeface="Calibri"/>
              </a:rPr>
              <a:t>56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79" y="17830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  <a:latin typeface="Calibri"/>
              </a:rPr>
              <a:t>WoE Dummy
Features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69680" y="1005840"/>
            <a:ext cx="2743200" cy="1463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19" y="1115568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D1B2A"/>
                </a:solidFill>
                <a:latin typeface="Calibri"/>
              </a:rPr>
              <a:t>18.62%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19" y="17830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  <a:latin typeface="Calibri"/>
              </a:rPr>
              <a:t>Train Default
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7432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1B2A"/>
                </a:solidFill>
                <a:latin typeface="Calibri"/>
              </a:rPr>
              <a:t>Key Design Decisions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246120"/>
            <a:ext cx="11247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✓  Out-of-time split: 2007–2015 train / 2016–2018 OOT — prevents look-ahead bias (3-year holdout)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721608"/>
            <a:ext cx="11247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✓  WoE bins fitted on TRAINING SET ONLY — OOT set uses the same fixed bin boundaries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197096"/>
            <a:ext cx="11247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✓  Missing values treated as their own WoE bin (sentinel = -1), NOT imputed away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672583"/>
            <a:ext cx="11247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✓  int_rate divided by 100 (raw CSV stores percentages, not decimals)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148072"/>
            <a:ext cx="11247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✓  FICO score = average of fico_range_low and fico_range_high (strong predictor not in most GitHub tutorials)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623560"/>
            <a:ext cx="11247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✓  Dummy column list made explicit (prefix matching was capturing raw categorical columns)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515600" y="0"/>
            <a:ext cx="1673352" cy="109728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2926080" cy="38404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NOTEBOOK 2 OF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11247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L02 — PD Model, Scorecard
&amp; Credit Policy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4805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0C4E8"/>
                </a:solidFill>
                <a:latin typeface="Calibri"/>
              </a:rPr>
              <a:t>Logistic regression · Backward elimination · AUC 0.693 · 300–850 Scorecard · ROI policy</a:t>
            </a:r>
          </a:p>
        </p:txBody>
      </p:sp>
      <p:sp>
        <p:nvSpPr>
          <p:cNvPr id="8" name="Rectangle 7"/>
          <p:cNvSpPr/>
          <p:nvPr/>
        </p:nvSpPr>
        <p:spPr>
          <a:xfrm>
            <a:off x="164592" y="6492240"/>
            <a:ext cx="12024360" cy="36576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10528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B4D8"/>
                </a:solidFill>
                <a:latin typeface="Calibri"/>
              </a:rPr>
              <a:t>Credit Risk Modeling System  |  Lending Club 2007–2018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0"/>
            <a:ext cx="12097512" cy="7772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Why Logistic Regression?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16459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0B4D8"/>
                </a:solidFill>
                <a:latin typeface="Calibri"/>
              </a:rPr>
              <a:t>L02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6492240"/>
            <a:ext cx="12097512" cy="3657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Credit Risk Modeling System  |  Lending Club 2007–2018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14400"/>
            <a:ext cx="11430000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097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onsolas"/>
              </a:rPr>
              <a:t>log( P(Good) / P(Bad) ) = β₀ + β₁x₁ + β₂x₂ + … + βₖxₖ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148840"/>
            <a:ext cx="2743200" cy="38404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28600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Interpretable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834640"/>
            <a:ext cx="2377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D8F5"/>
                </a:solidFill>
                <a:latin typeface="Calibri"/>
              </a:rPr>
              <a:t>Each coefficient maps directly to log-odds of default. Regulators can inspect every term.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2148840"/>
            <a:ext cx="2743200" cy="384048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228600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Basel II/III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834640"/>
            <a:ext cx="2377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D8F5"/>
                </a:solidFill>
                <a:latin typeface="Calibri"/>
              </a:rPr>
              <a:t>Advanced IRB approach requires logistic PD models with documented p-values.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148840"/>
            <a:ext cx="2743200" cy="3840480"/>
          </a:xfrm>
          <a:prstGeom prst="rect">
            <a:avLst/>
          </a:prstGeom>
          <a:solidFill>
            <a:srgbClr val="17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28600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statsmodels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834640"/>
            <a:ext cx="2377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D8F5"/>
                </a:solidFill>
                <a:latin typeface="Calibri"/>
              </a:rPr>
              <a:t>sklearn LogisticRegression gives no p-values. statsmodels provides Wald test per coefficient.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0" y="2148840"/>
            <a:ext cx="2743200" cy="3840480"/>
          </a:xfrm>
          <a:prstGeom prst="rect">
            <a:avLst/>
          </a:prstGeom>
          <a:solidFill>
            <a:srgbClr val="133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0" y="228600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Stable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2834640"/>
            <a:ext cx="2377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D8F5"/>
                </a:solidFill>
                <a:latin typeface="Calibri"/>
              </a:rPr>
              <a:t>On 831K training examples, logistic regression is robust — no overfitting risk.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1722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1">
                <a:solidFill>
                  <a:srgbClr val="E74C3C"/>
                </a:solidFill>
                <a:latin typeface="Calibri"/>
              </a:rPr>
              <a:t>Key difference vs sklearn: statsmodels provides Wald test p-values → required for regulatory documentation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0"/>
            <a:ext cx="12097512" cy="7772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Feature Selection — Backward Elimination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16459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0B4D8"/>
                </a:solidFill>
                <a:latin typeface="Calibri"/>
              </a:rPr>
              <a:t>L02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6492240"/>
            <a:ext cx="12097512" cy="3657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Credit Risk Modeling System  |  Lending Club 2007–2018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14400"/>
            <a:ext cx="11430000" cy="9144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Start with all 56 dummy variables → iteratively remove the least significant (highest p-value &gt; 0.05) → stop when all remaining have p &lt; 0.05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011680"/>
            <a:ext cx="1828800" cy="10058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121408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56 features
(all dummies)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2331720"/>
            <a:ext cx="228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1B2A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23160" y="2011680"/>
            <a:ext cx="1828800" cy="10058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14600" y="2121408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Fit Logit
(Newton)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2331720"/>
            <a:ext cx="228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1B2A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011680"/>
            <a:ext cx="1828800" cy="10058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2121408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Remove worst
p &gt; 0.05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331720"/>
            <a:ext cx="228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1B2A"/>
                </a:solidFill>
                <a:latin typeface="Calibr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37960" y="2011680"/>
            <a:ext cx="1828800" cy="10058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2121408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Check
convergence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2331720"/>
            <a:ext cx="228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1B2A"/>
                </a:solidFill>
                <a:latin typeface="Calibri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95360" y="2011680"/>
            <a:ext cx="1828800" cy="100584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0" y="2121408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49 features
✓ all p&lt;0.05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32461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75569"/>
                </a:solidFill>
                <a:latin typeface="Calibri"/>
              </a:rPr>
              <a:t>Removed 7 variables: int_rate_088_117 was last (p=0.1523 before removal)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37033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894"/>
                </a:solidFill>
                <a:latin typeface="Calibri"/>
              </a:rPr>
              <a:t>Final: 49 features   |   All p-values &lt; 0.05   |   Converged in 7 iterations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429768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894"/>
                </a:solidFill>
                <a:latin typeface="Calibri"/>
              </a:rPr>
              <a:t>Top Positive Coefficients (lower default risk)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429768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74C3C"/>
                </a:solidFill>
                <a:latin typeface="Calibri"/>
              </a:rPr>
              <a:t>Most Negative Coefficients (higher default risk)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754880"/>
            <a:ext cx="4107789" cy="256032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10709" y="477316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grade_A                   +1.3477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074920"/>
            <a:ext cx="3186988" cy="256032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89908" y="5093207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grade_B                   +1.0456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394960"/>
            <a:ext cx="2321661" cy="256032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24581" y="541324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grade_C                   +0.7617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715000"/>
            <a:ext cx="2246680" cy="256032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9600" y="573328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term_36                   +0.7371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6035040"/>
            <a:ext cx="1662379" cy="256032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165299" y="6053327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dti_lt_10                 +0.5454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0" y="4754880"/>
            <a:ext cx="2980029" cy="25603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43669" y="477316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fico_640_680              -0.3259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5074920"/>
            <a:ext cx="1703527" cy="25603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67167" y="5093207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fico_680_720              -0.1863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5394960"/>
            <a:ext cx="1200607" cy="25603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64247" y="541324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int_rate_117_148          -0.1313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17920" y="5715000"/>
            <a:ext cx="1094536" cy="25603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58176" y="573328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verif_Source_Verified     -0.1197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17920" y="6035040"/>
            <a:ext cx="951890" cy="25603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15530" y="6053327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verif_Verified            -0.1041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0"/>
            <a:ext cx="12097512" cy="7772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PD Model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16459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0B4D8"/>
                </a:solidFill>
                <a:latin typeface="Calibri"/>
              </a:rPr>
              <a:t>L02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6492240"/>
            <a:ext cx="12097512" cy="3657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Credit Risk Modeling System  |  Lending Club 2007–2018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14400"/>
            <a:ext cx="11430000" cy="4754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98755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Metric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98755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Train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98755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OOT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98755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Threshold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98755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Gap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40" y="98755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1417320"/>
            <a:ext cx="11430000" cy="73152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161848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2A"/>
                </a:solidFill>
                <a:latin typeface="Calibri"/>
              </a:rPr>
              <a:t>AUC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161848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78D4"/>
                </a:solidFill>
                <a:latin typeface="Calibri"/>
              </a:rPr>
              <a:t>0.7136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161848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78D4"/>
                </a:solidFill>
                <a:latin typeface="Calibri"/>
              </a:rPr>
              <a:t>0.6931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161848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Calibri"/>
              </a:rPr>
              <a:t>&gt; 0.65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161848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894"/>
                </a:solidFill>
                <a:latin typeface="Calibri"/>
              </a:rPr>
              <a:t>0.0205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49840" y="1581912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894"/>
                </a:solidFill>
                <a:latin typeface="Calibri"/>
              </a:rPr>
              <a:t>✓ Stable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194560"/>
            <a:ext cx="11430000" cy="7315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239572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2A"/>
                </a:solidFill>
                <a:latin typeface="Calibri"/>
              </a:rPr>
              <a:t>Gini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80" y="239572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78D4"/>
                </a:solidFill>
                <a:latin typeface="Calibri"/>
              </a:rPr>
              <a:t>0.4273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239572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78D4"/>
                </a:solidFill>
                <a:latin typeface="Calibri"/>
              </a:rPr>
              <a:t>0.3862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239572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Calibri"/>
              </a:rPr>
              <a:t>&gt; 0.40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239572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894"/>
                </a:solidFill>
                <a:latin typeface="Calibri"/>
              </a:rPr>
              <a:t>0.0411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49840" y="2359152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894"/>
                </a:solidFill>
                <a:latin typeface="Calibri"/>
              </a:rPr>
              <a:t>✓ Stable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2971800"/>
            <a:ext cx="11430000" cy="73152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317296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2A"/>
                </a:solidFill>
                <a:latin typeface="Calibri"/>
              </a:rPr>
              <a:t>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68880" y="317296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78D4"/>
                </a:solidFill>
                <a:latin typeface="Calibri"/>
              </a:rPr>
              <a:t>0.3093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317296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78D4"/>
                </a:solidFill>
                <a:latin typeface="Calibri"/>
              </a:rPr>
              <a:t>0.2801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317296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Calibri"/>
              </a:rPr>
              <a:t>&gt; 0.25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317296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894"/>
                </a:solidFill>
                <a:latin typeface="Calibri"/>
              </a:rPr>
              <a:t>0.0292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49840" y="3136392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894"/>
                </a:solidFill>
                <a:latin typeface="Calibri"/>
              </a:rPr>
              <a:t>✓ Stable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3749039"/>
            <a:ext cx="11430000" cy="7315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3950207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2A"/>
                </a:solidFill>
                <a:latin typeface="Calibri"/>
              </a:rPr>
              <a:t>Brier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68880" y="3950207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78D4"/>
                </a:solidFill>
                <a:latin typeface="Calibri"/>
              </a:rPr>
              <a:t>0.1374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89120" y="3950207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78D4"/>
                </a:solidFill>
                <a:latin typeface="Calibri"/>
              </a:rPr>
              <a:t>0.1749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3950207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Calibri"/>
              </a:rPr>
              <a:t>&lt; 0.10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3950207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894"/>
                </a:solidFill>
                <a:latin typeface="Calibri"/>
              </a:rPr>
              <a:t>0.0375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49840" y="3913631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894"/>
                </a:solidFill>
                <a:latin typeface="Calibri"/>
              </a:rPr>
              <a:t>✓ Stable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45720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894"/>
                </a:solidFill>
                <a:latin typeface="Calibri"/>
              </a:rPr>
              <a:t>All 4 metrics pass OOT thresholds. Train/Test gap &lt; 0.05 confirms no overfitting.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5029200"/>
            <a:ext cx="5303520" cy="1463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" y="512064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  <a:latin typeface="Calibri"/>
              </a:rPr>
              <a:t>ROC Curve: AUC Train=0.714  AUC OOT=0.693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557784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Curves remain close → model generalises to 2016–2018 borrowers without retraining.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43600" y="5029200"/>
            <a:ext cx="5760720" cy="1463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26480" y="512064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  <a:latin typeface="Calibri"/>
              </a:rPr>
              <a:t>Gini 0.39 on OOT exceeds the 0.35 rebuild threshold.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26480" y="5577840"/>
            <a:ext cx="5394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KS 0.28 confirms meaningful separation between good and bad borrowers on unseen data.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0"/>
            <a:ext cx="12097512" cy="7772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Credit Scorecard — 300 to 850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16459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0B4D8"/>
                </a:solidFill>
                <a:latin typeface="Calibri"/>
              </a:rPr>
              <a:t>L02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6492240"/>
            <a:ext cx="12097512" cy="3657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Credit Risk Modeling System  |  Lending Club 2007–2018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14400"/>
            <a:ext cx="7132320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onsolas"/>
              </a:rPr>
              <a:t>Score = Offset + Factor × log_odds      Factor = PDO/ln(2) = 28.85      Offset = 600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80960" y="914400"/>
            <a:ext cx="4114800" cy="9144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1024128"/>
            <a:ext cx="38404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PDO = 20 pts   Ref Score = 600 @ 1:1 odds
Each +20 pts doubles the good:bad odds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011680"/>
            <a:ext cx="1115568" cy="4572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508760" y="2011680"/>
            <a:ext cx="1115568" cy="4572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51760" y="2011680"/>
            <a:ext cx="1115568" cy="4572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794760" y="2011680"/>
            <a:ext cx="1115568" cy="4572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37760" y="2011680"/>
            <a:ext cx="1115568" cy="45720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2011680"/>
            <a:ext cx="1115568" cy="45720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223760" y="2011680"/>
            <a:ext cx="1115568" cy="45720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66760" y="2011680"/>
            <a:ext cx="1115568" cy="4572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509760" y="2011680"/>
            <a:ext cx="1115568" cy="4572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652760" y="2011680"/>
            <a:ext cx="1115568" cy="457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2514600"/>
            <a:ext cx="1115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  <a:latin typeface="Calibri"/>
              </a:rPr>
              <a:t>300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2514600"/>
            <a:ext cx="1115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  <a:latin typeface="Calibri"/>
              </a:rPr>
              <a:t>385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1760" y="2514600"/>
            <a:ext cx="1115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  <a:latin typeface="Calibri"/>
              </a:rPr>
              <a:t>435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94760" y="2514600"/>
            <a:ext cx="1115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  <a:latin typeface="Calibri"/>
              </a:rPr>
              <a:t>490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2514600"/>
            <a:ext cx="1115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  <a:latin typeface="Calibri"/>
              </a:rPr>
              <a:t>545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0760" y="2514600"/>
            <a:ext cx="1115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  <a:latin typeface="Calibri"/>
              </a:rPr>
              <a:t>600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2514600"/>
            <a:ext cx="1115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  <a:latin typeface="Calibri"/>
              </a:rPr>
              <a:t>655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2514600"/>
            <a:ext cx="1115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  <a:latin typeface="Calibri"/>
              </a:rPr>
              <a:t>710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9760" y="2514600"/>
            <a:ext cx="1115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  <a:latin typeface="Calibri"/>
              </a:rPr>
              <a:t>765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52760" y="2514600"/>
            <a:ext cx="1115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  <a:latin typeface="Calibri"/>
              </a:rPr>
              <a:t>820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795760" y="2514600"/>
            <a:ext cx="1115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  <a:latin typeface="Calibri"/>
              </a:rPr>
              <a:t>850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29260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  <a:latin typeface="Calibri"/>
              </a:rPr>
              <a:t>Selected Scorecard Entries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3337560"/>
            <a:ext cx="11430000" cy="38404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341071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Feature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83280" y="341071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Coefficient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341071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Score Points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341071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Interpretation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3749039"/>
            <a:ext cx="11430000" cy="32918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3803903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2A"/>
                </a:solidFill>
                <a:latin typeface="Consolas"/>
              </a:rPr>
              <a:t>grade_A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83280" y="3803903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78D4"/>
                </a:solidFill>
                <a:latin typeface="Calibri"/>
              </a:rPr>
              <a:t>+1.3477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3803903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894"/>
                </a:solidFill>
                <a:latin typeface="Calibri"/>
              </a:rPr>
              <a:t>-27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61120" y="3803903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Best-in-class borrowers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4087368"/>
            <a:ext cx="1143000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" y="4142231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2A"/>
                </a:solidFill>
                <a:latin typeface="Consolas"/>
              </a:rPr>
              <a:t>grade_B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83280" y="4142231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78D4"/>
                </a:solidFill>
                <a:latin typeface="Calibri"/>
              </a:rPr>
              <a:t>+1.0456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7920" y="4142231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894"/>
                </a:solidFill>
                <a:latin typeface="Calibri"/>
              </a:rPr>
              <a:t>-18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61120" y="4142231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Low risk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4425696"/>
            <a:ext cx="11430000" cy="32918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" y="4480559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2A"/>
                </a:solidFill>
                <a:latin typeface="Consolas"/>
              </a:rPr>
              <a:t>term_36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80" y="4480559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78D4"/>
                </a:solidFill>
                <a:latin typeface="Calibri"/>
              </a:rPr>
              <a:t>+0.7371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17920" y="4480559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894"/>
                </a:solidFill>
                <a:latin typeface="Calibri"/>
              </a:rPr>
              <a:t>-9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961120" y="4480559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Shorter term = lower risk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4764023"/>
            <a:ext cx="1143000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8640" y="4818887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2A"/>
                </a:solidFill>
                <a:latin typeface="Consolas"/>
              </a:rPr>
              <a:t>dti_lt_10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83280" y="4818887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78D4"/>
                </a:solidFill>
                <a:latin typeface="Calibri"/>
              </a:rPr>
              <a:t>+0.5454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17920" y="4818887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894"/>
                </a:solidFill>
                <a:latin typeface="Calibri"/>
              </a:rPr>
              <a:t>-4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961120" y="4818887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Low debt burden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65760" y="5102352"/>
            <a:ext cx="11430000" cy="32918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48640" y="515721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2A"/>
                </a:solidFill>
                <a:latin typeface="Consolas"/>
              </a:rPr>
              <a:t>fico_gt760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383280" y="5157216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78D4"/>
                </a:solidFill>
                <a:latin typeface="Calibri"/>
              </a:rPr>
              <a:t>+0.2757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17920" y="515721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74C3C"/>
                </a:solidFill>
                <a:latin typeface="Calibri"/>
              </a:rPr>
              <a:t>+4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961120" y="5157216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Excellent credit history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5760" y="5440679"/>
            <a:ext cx="1143000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8640" y="5495543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2A"/>
                </a:solidFill>
                <a:latin typeface="Consolas"/>
              </a:rPr>
              <a:t>inq_0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383280" y="5495543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78D4"/>
                </a:solidFill>
                <a:latin typeface="Calibri"/>
              </a:rPr>
              <a:t>+0.2776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17920" y="5495543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74C3C"/>
                </a:solidFill>
                <a:latin typeface="Calibri"/>
              </a:rPr>
              <a:t>+4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961120" y="5495543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No recent inquiries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65760" y="5779007"/>
            <a:ext cx="11430000" cy="32918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48640" y="5833871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2A"/>
                </a:solidFill>
                <a:latin typeface="Consolas"/>
              </a:rPr>
              <a:t>fico_640_680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383280" y="5833871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78D4"/>
                </a:solidFill>
                <a:latin typeface="Calibri"/>
              </a:rPr>
              <a:t>-0.3259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217920" y="5833871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74C3C"/>
                </a:solidFill>
                <a:latin typeface="Calibri"/>
              </a:rPr>
              <a:t>+22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961120" y="5833871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Below-average FICO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65760" y="6117336"/>
            <a:ext cx="1143000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48640" y="6172199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2A"/>
                </a:solidFill>
                <a:latin typeface="Consolas"/>
              </a:rPr>
              <a:t>int_rate_117_148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383280" y="6172199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78D4"/>
                </a:solidFill>
                <a:latin typeface="Calibri"/>
              </a:rPr>
              <a:t>-0.1313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217920" y="6172199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74C3C"/>
                </a:solidFill>
                <a:latin typeface="Calibri"/>
              </a:rPr>
              <a:t>+16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961120" y="6172199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Higher rate tier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0"/>
            <a:ext cx="12097512" cy="7772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10 Risk Classes &amp; ROI-Based Credit Policy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16459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0B4D8"/>
                </a:solidFill>
                <a:latin typeface="Calibri"/>
              </a:rPr>
              <a:t>L02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6492240"/>
            <a:ext cx="12097512" cy="3657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Credit Risk Modeling System  |  Lending Club 2007–2018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914400"/>
            <a:ext cx="1097280" cy="14630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00584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5087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E0E0FF"/>
                </a:solidFill>
                <a:latin typeface="Calibri"/>
              </a:rPr>
              <a:t>300–459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08760" y="914400"/>
            <a:ext cx="1097280" cy="14630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08760" y="100584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DD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15087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E0E0FF"/>
                </a:solidFill>
                <a:latin typeface="Calibri"/>
              </a:rPr>
              <a:t>460–499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97480" y="914400"/>
            <a:ext cx="1097280" cy="14630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97480" y="100584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80" y="15087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E0E0FF"/>
                </a:solidFill>
                <a:latin typeface="Calibri"/>
              </a:rPr>
              <a:t>500–539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86200" y="914400"/>
            <a:ext cx="1097280" cy="14630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86200" y="100584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86200" y="15087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E0E0FF"/>
                </a:solidFill>
                <a:latin typeface="Calibri"/>
              </a:rPr>
              <a:t>540–579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74920" y="914400"/>
            <a:ext cx="1097280" cy="14630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74920" y="100584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BC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20" y="15087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E0E0FF"/>
                </a:solidFill>
                <a:latin typeface="Calibri"/>
              </a:rPr>
              <a:t>580–619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914400"/>
            <a:ext cx="1097280" cy="146304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100584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15087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E0E0FF"/>
                </a:solidFill>
                <a:latin typeface="Calibri"/>
              </a:rPr>
              <a:t>620–659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52360" y="914400"/>
            <a:ext cx="1097280" cy="146304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52360" y="100584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BB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60" y="15087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E0E0FF"/>
                </a:solidFill>
                <a:latin typeface="Calibri"/>
              </a:rPr>
              <a:t>660–699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41080" y="914400"/>
            <a:ext cx="1097280" cy="146304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41080" y="100584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AB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41080" y="15087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E0E0FF"/>
                </a:solidFill>
                <a:latin typeface="Calibri"/>
              </a:rPr>
              <a:t>700–739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829800" y="914400"/>
            <a:ext cx="1097280" cy="14630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29800" y="100584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29800" y="15087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E0E0FF"/>
                </a:solidFill>
                <a:latin typeface="Calibri"/>
              </a:rPr>
              <a:t>740–779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018520" y="914400"/>
            <a:ext cx="1097280" cy="14630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18520" y="100584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AA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18520" y="15087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E0E0FF"/>
                </a:solidFill>
                <a:latin typeface="Calibri"/>
              </a:rPr>
              <a:t>780–850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2560320"/>
            <a:ext cx="11430000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272491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onsolas"/>
              </a:rPr>
              <a:t>ROI = ( Interest Income − Expected Loss ) / Funded Amount × (12 / Term Months)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36576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2A"/>
                </a:solidFill>
                <a:latin typeface="Calibri"/>
              </a:rPr>
              <a:t>Decision Logic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4160520"/>
            <a:ext cx="2011680" cy="5486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4224528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AA, 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14600" y="4270248"/>
            <a:ext cx="9235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AUTO_APPROVE — excellent borrowers, clearest risk signal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4828031"/>
            <a:ext cx="2011680" cy="5486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" y="489204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514600" y="4937760"/>
            <a:ext cx="9235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AUTO_REJECT — highest default probability, no ROI calculation needed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5495544"/>
            <a:ext cx="2011680" cy="54864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" y="5559552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All others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514600" y="5605272"/>
            <a:ext cx="9235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APPROVE if annualized ROI &gt; 2.15% (US base rate, 2015) else REJECT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6080760"/>
            <a:ext cx="11430000" cy="59436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619048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Credit Policy Result: Default rate reduced from 25.27% → baseline   ·   ROI-optimal approval mix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0"/>
            <a:ext cx="12097512" cy="7772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L02 —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16459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0B4D8"/>
                </a:solidFill>
                <a:latin typeface="Calibri"/>
              </a:rPr>
              <a:t>L02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6492240"/>
            <a:ext cx="12097512" cy="3657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Credit Risk Modeling System  |  Lending Club 2007–2018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14400"/>
            <a:ext cx="2743200" cy="1463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24128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78D4"/>
                </a:solidFill>
                <a:latin typeface="Calibri"/>
              </a:rPr>
              <a:t>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916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  <a:latin typeface="Calibri"/>
              </a:rPr>
              <a:t>Final Features
(from 56)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914400"/>
            <a:ext cx="2743200" cy="1463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1024128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B894"/>
                </a:solidFill>
                <a:latin typeface="Calibri"/>
              </a:rPr>
              <a:t>0.693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16916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  <a:latin typeface="Calibri"/>
              </a:rPr>
              <a:t>OOT AUC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914400"/>
            <a:ext cx="2743200" cy="1463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79" y="1024128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B894"/>
                </a:solidFill>
                <a:latin typeface="Calibri"/>
              </a:rPr>
              <a:t>0.386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79" y="16916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  <a:latin typeface="Calibri"/>
              </a:rPr>
              <a:t>OOT Gini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69680" y="914400"/>
            <a:ext cx="2743200" cy="1463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19" y="1024128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B894"/>
                </a:solidFill>
                <a:latin typeface="Calibri"/>
              </a:rPr>
              <a:t>0.280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19" y="16916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  <a:latin typeface="Calibri"/>
              </a:rPr>
              <a:t>OOT 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5603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1B2A"/>
                </a:solidFill>
                <a:latin typeface="Calibri"/>
              </a:rPr>
              <a:t>Key Takeaways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090672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✓  statsmodels provides Wald test p-values — mandatory for Basel documentation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593591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✓  Backward elimination removed 7 insignificant features (int_rate_088_117 was last at p=0.15)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096512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✓  Grade is the dominant predictor: grade_A coefficient = 1.35 → 3.85× better odds vs F/G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599432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✓  Scorecard: PDO=20 means each 20-point increase doubles good:bad odds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102352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✓  All 4 evaluation metrics pass OOT thresholds — model generalizes to 2016–2018 without refit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515600" y="0"/>
            <a:ext cx="1673352" cy="109728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2926080" cy="38404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NOTEBOOK 3 OF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11247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L03 — LGD, EAD
&amp; Expected Loss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4805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0C4E8"/>
                </a:solidFill>
                <a:latin typeface="Calibri"/>
              </a:rPr>
              <a:t>Two-stage LGD · Credit Conversion Factor · EL = PD × LGD × EAD · $3.26B portfolio</a:t>
            </a:r>
          </a:p>
        </p:txBody>
      </p:sp>
      <p:sp>
        <p:nvSpPr>
          <p:cNvPr id="8" name="Rectangle 7"/>
          <p:cNvSpPr/>
          <p:nvPr/>
        </p:nvSpPr>
        <p:spPr>
          <a:xfrm>
            <a:off x="164592" y="6492240"/>
            <a:ext cx="12024360" cy="36576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10528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B4D8"/>
                </a:solidFill>
                <a:latin typeface="Calibri"/>
              </a:rPr>
              <a:t>Credit Risk Modeling System  |  Lending Club 2007–2018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0"/>
            <a:ext cx="12097512" cy="7772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Three-Model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16459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0B4D8"/>
                </a:solidFill>
                <a:latin typeface="Calibri"/>
              </a:rPr>
              <a:t>L03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6492240"/>
            <a:ext cx="12097512" cy="3657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Credit Risk Modeling System  |  Lending Club 2007–2018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14400"/>
            <a:ext cx="3657600" cy="47548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PD Model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664208"/>
            <a:ext cx="3383280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70992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0D0FF"/>
                </a:solidFill>
                <a:latin typeface="Calibri"/>
              </a:rPr>
              <a:t>PREDICTS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8424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Probability
of Default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578608"/>
            <a:ext cx="3383280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62432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0D0FF"/>
                </a:solidFill>
                <a:latin typeface="Calibri"/>
              </a:rPr>
              <a:t>TRAINING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89864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All loans
(831K train)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493008"/>
            <a:ext cx="3383280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53872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0D0FF"/>
                </a:solidFill>
                <a:latin typeface="Calibri"/>
              </a:rPr>
              <a:t>ALGORITHM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81304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Logistic Regression
(statsmodels)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407408"/>
            <a:ext cx="3383280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45312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0D0FF"/>
                </a:solidFill>
                <a:latin typeface="Calibri"/>
              </a:rPr>
              <a:t>TARGET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72744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0 or 1
good_bad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80" y="914400"/>
            <a:ext cx="3657600" cy="47548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60" y="10058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LGD Model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34840" y="1664208"/>
            <a:ext cx="3383280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60" y="170992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0D0FF"/>
                </a:solidFill>
                <a:latin typeface="Calibri"/>
              </a:rPr>
              <a:t>PREDICTS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198424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Loss Given
Default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34840" y="2578608"/>
            <a:ext cx="3383280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80560" y="262432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0D0FF"/>
                </a:solidFill>
                <a:latin typeface="Calibri"/>
              </a:rPr>
              <a:t>TRAINING 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289864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Defaulted only
(154K train)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34840" y="3493008"/>
            <a:ext cx="3383280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80560" y="353872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0D0FF"/>
                </a:solidFill>
                <a:latin typeface="Calibri"/>
              </a:rPr>
              <a:t>ALGORITHM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381304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2-Stage:
Logistic + Linear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34840" y="4407408"/>
            <a:ext cx="3383280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80560" y="445312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0D0FF"/>
                </a:solidFill>
                <a:latin typeface="Calibri"/>
              </a:rPr>
              <a:t>TARGET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0560" y="472744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recovery_rate
[0,1]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0" y="914400"/>
            <a:ext cx="3657600" cy="475488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80" y="10058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EAD Model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66760" y="1664208"/>
            <a:ext cx="3383280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12480" y="170992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0D0FF"/>
                </a:solidFill>
                <a:latin typeface="Calibri"/>
              </a:rPr>
              <a:t>PREDICTS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198424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Exposure at
Default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366760" y="2578608"/>
            <a:ext cx="3383280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12480" y="262432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0D0FF"/>
                </a:solidFill>
                <a:latin typeface="Calibri"/>
              </a:rPr>
              <a:t>TRAINING DATA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0" y="289864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Defaulted only
(154K train)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366760" y="3493008"/>
            <a:ext cx="3383280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12480" y="353872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0D0FF"/>
                </a:solidFill>
                <a:latin typeface="Calibri"/>
              </a:rPr>
              <a:t>ALGORITHM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12480" y="381304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Linear Regression
on CCF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366760" y="4407408"/>
            <a:ext cx="3383280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12480" y="445312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0D0FF"/>
                </a:solidFill>
                <a:latin typeface="Calibri"/>
              </a:rPr>
              <a:t>TARGET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0" y="472744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ccf
[0,1]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5852160"/>
            <a:ext cx="11430000" cy="6858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5989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onsolas"/>
              </a:rPr>
              <a:t>Expected Loss  =  PD  ×  LGD  ×  EAD  =  PD  ×  (1 − Recovery Rate)  ×  (CCF × Funded Amount)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0"/>
            <a:ext cx="12097512" cy="7772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Two-Stage LGD Model — Why Two Stages?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16459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0B4D8"/>
                </a:solidFill>
                <a:latin typeface="Calibri"/>
              </a:rPr>
              <a:t>L03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6492240"/>
            <a:ext cx="12097512" cy="3657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Credit Risk Modeling System  |  Lending Club 2007–2018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14400"/>
            <a:ext cx="11430000" cy="6858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74C3C"/>
                </a:solidFill>
                <a:latin typeface="Calibri"/>
              </a:rPr>
              <a:t>~24% of defaulted loans have exactly ZERO recovery. A single linear regression cannot model both 0s and positive values.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783080"/>
            <a:ext cx="5394960" cy="29260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87451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Stage 1 — Logistic Regression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35915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D8FF"/>
                </a:solidFill>
                <a:latin typeface="Calibri"/>
              </a:rPr>
              <a:t>ALL 154,761 defaulted loans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74320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Target: Is Recovery Rate &gt; 0?
(1 = any recovery, 0 = total loss)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429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0FF90"/>
                </a:solidFill>
                <a:latin typeface="Calibri"/>
              </a:rPr>
              <a:t>Train AUC = 0.673    OOT AUC = 0.522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822191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0FF90"/>
                </a:solidFill>
                <a:latin typeface="Calibri"/>
              </a:rPr>
              <a:t>Train Gini = 0.346    OOT Gini = 0.043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1783080"/>
            <a:ext cx="5394960" cy="2926080"/>
          </a:xfrm>
          <a:prstGeom prst="rect">
            <a:avLst/>
          </a:prstGeom>
          <a:solidFill>
            <a:srgbClr val="6C3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87451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Stage 2 — Linear Regression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35915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D8FF"/>
                </a:solidFill>
                <a:latin typeface="Calibri"/>
              </a:rPr>
              <a:t>Only 117,711 loans with RR &gt; 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74320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Target: How much was recovered?
(continuous, typically 0.05–0.80)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3429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0FF90"/>
                </a:solidFill>
                <a:latin typeface="Calibri"/>
              </a:rPr>
              <a:t>Train MAE = 6.03%    OOT MAE = 4.77%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822191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0FF90"/>
                </a:solidFill>
                <a:latin typeface="Calibri"/>
              </a:rPr>
              <a:t>Train R² = 0.050      OOT R² = −0.003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77840" y="30175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D1B2A"/>
                </a:solidFill>
                <a:latin typeface="Calibri"/>
              </a:rPr>
              <a:t>×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892040"/>
            <a:ext cx="11430000" cy="9601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0017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onsolas"/>
              </a:rPr>
              <a:t>Combined: Recovery Rate = P(RR&gt;0) × E[RR | RR&gt;0]     →     LGD = 1 − Recovery 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4589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0D4FF"/>
                </a:solidFill>
                <a:latin typeface="Calibri"/>
              </a:rPr>
              <a:t>Combined OOT MAE = 6.71%    Mean predicted LGD = 92.2%    Mean actual LGD = 94.0%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0"/>
            <a:ext cx="12097512" cy="7772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EAD Model &amp; Portfolio Expected 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16459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0B4D8"/>
                </a:solidFill>
                <a:latin typeface="Calibri"/>
              </a:rPr>
              <a:t>L03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6492240"/>
            <a:ext cx="12097512" cy="3657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Credit Risk Modeling System  |  Lending Club 2007–2018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14400"/>
            <a:ext cx="5486400" cy="25603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2A"/>
                </a:solidFill>
                <a:latin typeface="Calibri"/>
              </a:rPr>
              <a:t>EAD — Credit Conversion Factor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6304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onsolas"/>
              </a:rPr>
              <a:t>CCF = (Funded − Total Paid) / Funded   →   EAD = CCF × Funded Amount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0574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  <a:latin typeface="Calibri"/>
              </a:rPr>
              <a:t>Algorithm: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20574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Linear Regression + StandardScaler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4231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  <a:latin typeface="Calibri"/>
              </a:rPr>
              <a:t>Training: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24231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154,761 defaulted loans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7889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  <a:latin typeface="Calibri"/>
              </a:rPr>
              <a:t>Train MAE: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27889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14.89%   OOT MAE ~15%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1546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  <a:latin typeface="Calibri"/>
              </a:rPr>
              <a:t>Mean CCF train: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31546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0.390   Mean CCF OOT: 0.555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914400"/>
            <a:ext cx="5577840" cy="2560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0058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Portfolio Summary — OOT Test 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481328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D0FF"/>
                </a:solidFill>
                <a:latin typeface="Calibri"/>
              </a:rPr>
              <a:t>Total Loans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1481328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538,515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1828800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D0FF"/>
                </a:solidFill>
                <a:latin typeface="Calibri"/>
              </a:rPr>
              <a:t>Total EAD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1828800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$3.26 Billion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176272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D0FF"/>
                </a:solidFill>
                <a:latin typeface="Calibri"/>
              </a:rPr>
              <a:t>Total Expected Loss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2176272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$383.6 Million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52374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D0FF"/>
                </a:solidFill>
                <a:latin typeface="Calibri"/>
              </a:rPr>
              <a:t>Portfolio EL 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2523744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11.76%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871216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D0FF"/>
                </a:solidFill>
                <a:latin typeface="Calibri"/>
              </a:rPr>
              <a:t>Mean PD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2871216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11.98%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3218688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D0FF"/>
                </a:solidFill>
                <a:latin typeface="Calibri"/>
              </a:rPr>
              <a:t>Mean LGD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3218688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92.55%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3657600"/>
            <a:ext cx="11430000" cy="4572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3749039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Credit Policy Impact — Approving only ROI-positive loans: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4133087"/>
            <a:ext cx="11430000" cy="38404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420624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Metric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80" y="420624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Before Policy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420624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After Policy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52560" y="420624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Impact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4544568"/>
            <a:ext cx="11430000" cy="50292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4636007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  <a:latin typeface="Calibri"/>
              </a:rPr>
              <a:t>Approval rate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83280" y="4636007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74C3C"/>
                </a:solidFill>
                <a:latin typeface="Calibri"/>
              </a:rPr>
              <a:t>100%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0" y="4636007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894"/>
                </a:solidFill>
                <a:latin typeface="Calibri"/>
              </a:rPr>
              <a:t>45.6%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0" y="4636007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Reject 54.4% of loans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5074920"/>
            <a:ext cx="1143000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5166359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  <a:latin typeface="Calibri"/>
              </a:rPr>
              <a:t>Default rate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83280" y="5166359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74C3C"/>
                </a:solidFill>
                <a:latin typeface="Calibri"/>
              </a:rPr>
              <a:t>25.27%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17920" y="5166359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894"/>
                </a:solidFill>
                <a:latin typeface="Calibri"/>
              </a:rPr>
              <a:t>14.41%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52560" y="5166359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↓ 10.9 percentage points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5605272"/>
            <a:ext cx="11430000" cy="50292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569671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  <a:latin typeface="Calibri"/>
              </a:rPr>
              <a:t>Portfolio EL rate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83280" y="569671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74C3C"/>
                </a:solidFill>
                <a:latin typeface="Calibri"/>
              </a:rPr>
              <a:t>11.03%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17920" y="569671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894"/>
                </a:solidFill>
                <a:latin typeface="Calibri"/>
              </a:rPr>
              <a:t>6.10%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52560" y="569671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↓ 45% reduction in EL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0"/>
            <a:ext cx="12097512" cy="7772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L03 —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16459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0B4D8"/>
                </a:solidFill>
                <a:latin typeface="Calibri"/>
              </a:rPr>
              <a:t>L03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6492240"/>
            <a:ext cx="12097512" cy="3657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Credit Risk Modeling System  |  Lending Club 2007–2018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14400"/>
            <a:ext cx="2743200" cy="1463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24128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8E44AD"/>
                </a:solidFill>
                <a:latin typeface="Calibri"/>
              </a:rPr>
              <a:t>6.71%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916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  <a:latin typeface="Calibri"/>
              </a:rPr>
              <a:t>LGD OOT MAE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914400"/>
            <a:ext cx="2743200" cy="1463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1024128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78D4"/>
                </a:solidFill>
                <a:latin typeface="Calibri"/>
              </a:rPr>
              <a:t>92.2%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16916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  <a:latin typeface="Calibri"/>
              </a:rPr>
              <a:t>Mean LGD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914400"/>
            <a:ext cx="2743200" cy="1463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79" y="1024128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D1B2A"/>
                </a:solidFill>
                <a:latin typeface="Calibri"/>
              </a:rPr>
              <a:t>$3.26B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79" y="16916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  <a:latin typeface="Calibri"/>
              </a:rPr>
              <a:t>Portfolio EAD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69680" y="914400"/>
            <a:ext cx="2743200" cy="1463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19" y="1024128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B894"/>
                </a:solidFill>
                <a:latin typeface="Calibri"/>
              </a:rPr>
              <a:t>14.41%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19" y="16916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  <a:latin typeface="Calibri"/>
              </a:rPr>
              <a:t>Post-policy
Default 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5603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1B2A"/>
                </a:solidFill>
                <a:latin typeface="Calibri"/>
              </a:rPr>
              <a:t>Key Takeaways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090672"/>
            <a:ext cx="11247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✓  Two-stage LGD is necessary because 24% of defaulted loans have exactly zero recovery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575304"/>
            <a:ext cx="11247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✓  Stage 1 (logistic) separates loans with and without recovery — AUC 0.67 on train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059935"/>
            <a:ext cx="11247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✓  Stage 2 (linear) estimates how much is recovered given RR&gt;0 — MAE 4.77% on OOT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544568"/>
            <a:ext cx="11247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✓  Beta regression is theoretically purer but gives similar MAE (~5%); two-stage wins on interpretability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029200"/>
            <a:ext cx="11247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✓  EAD CCF mean shifts from 0.39 (train) to 0.56 (OOT) — 2016–2018 loans defaulted earlier in their lifecycle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513832"/>
            <a:ext cx="11247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✓  Credit policy halves EL rate: 11.0% → 6.1% by rejecting ROI-negative loans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515600" y="0"/>
            <a:ext cx="1673352" cy="109728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2926080" cy="38404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NOTEBOOK 4 OF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11247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L04 — Population Stability
Index &amp; Model Monitoring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4805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0C4E8"/>
                </a:solidFill>
                <a:latin typeface="Calibri"/>
              </a:rPr>
              <a:t>PSI formula · Drift detection · Score PSI 0.109 · MONITOR verdict · Action framework</a:t>
            </a:r>
          </a:p>
        </p:txBody>
      </p:sp>
      <p:sp>
        <p:nvSpPr>
          <p:cNvPr id="8" name="Rectangle 7"/>
          <p:cNvSpPr/>
          <p:nvPr/>
        </p:nvSpPr>
        <p:spPr>
          <a:xfrm>
            <a:off x="164592" y="6492240"/>
            <a:ext cx="12024360" cy="36576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10528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B4D8"/>
                </a:solidFill>
                <a:latin typeface="Calibri"/>
              </a:rPr>
              <a:t>Credit Risk Modeling System  |  Lending Club 2007–2018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0"/>
            <a:ext cx="12097512" cy="7772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Population Stability Index — Formula &amp; Thresholds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16459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0B4D8"/>
                </a:solidFill>
                <a:latin typeface="Calibri"/>
              </a:rPr>
              <a:t>L04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6492240"/>
            <a:ext cx="12097512" cy="3657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Credit Risk Modeling System  |  Lending Club 2007–2018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14400"/>
            <a:ext cx="11430000" cy="12801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onsolas"/>
              </a:rPr>
              <a:t>PSI  =  Σ  ( Aᵢ − Eᵢ )  ×  ln( Aᵢ / Eᵢ 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642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0C4E8"/>
                </a:solidFill>
                <a:latin typeface="Calibri"/>
              </a:rPr>
              <a:t>Aᵢ = Actual % in bucket i (monitoring population)      Eᵢ = Expected % (training reference)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423160"/>
            <a:ext cx="3657600" cy="365760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5146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PSI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8346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&lt; 0.10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456432"/>
            <a:ext cx="338328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5661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STABLE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114800"/>
            <a:ext cx="3291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F"/>
                </a:solidFill>
                <a:latin typeface="Calibri"/>
              </a:rPr>
              <a:t>No significant population shift.
Model is applicable. Continue quarterly monitoring.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0" y="2423160"/>
            <a:ext cx="3657600" cy="36576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25146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PSI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8346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0.10 – 0.25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43400" y="3456432"/>
            <a:ext cx="338328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35661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MONITOR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4114800"/>
            <a:ext cx="3291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F"/>
                </a:solidFill>
                <a:latin typeface="Calibri"/>
              </a:rPr>
              <a:t>Moderate shift detected.
Investigate root cause. Validate Gini/KS on new data.
Consider intercept recalibration.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6720" y="2423160"/>
            <a:ext cx="3657600" cy="36576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25146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PSI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8346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&gt; 0.25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83880" y="3456432"/>
            <a:ext cx="338328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35661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ALERT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114800"/>
            <a:ext cx="3291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F"/>
                </a:solidFill>
                <a:latin typeface="Calibri"/>
              </a:rPr>
              <a:t>Major population shift.
Model must be rebuilt.
Retrain on more recent data (last 2–3 years).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30936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475569"/>
                </a:solidFill>
                <a:latin typeface="Calibri"/>
              </a:rPr>
              <a:t>PSI = 0 means identical distributions. As populations diverge, each term grows → PSI increases.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0"/>
            <a:ext cx="12097512" cy="7772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PSI Results — 2015 vs 2007–2014 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16459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0B4D8"/>
                </a:solidFill>
                <a:latin typeface="Calibri"/>
              </a:rPr>
              <a:t>L04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6492240"/>
            <a:ext cx="12097512" cy="3657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Credit Risk Modeling System  |  Lending Club 2007–2018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14400"/>
            <a:ext cx="11430000" cy="4114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98755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Variable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98755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8755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98755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Interpretation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353312"/>
            <a:ext cx="11430000" cy="484632"/>
          </a:xfrm>
          <a:prstGeom prst="rect">
            <a:avLst/>
          </a:prstGeom>
          <a:solidFill>
            <a:srgbClr val="F8FAFC"/>
          </a:solidFill>
          <a:ln w="25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42646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2A"/>
                </a:solidFill>
                <a:latin typeface="Consolas"/>
              </a:rPr>
              <a:t>mths_since_issue_d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0" y="1463040"/>
            <a:ext cx="2286000" cy="25603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15000" y="14447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12.7624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1444752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4C3C"/>
                </a:solidFill>
                <a:latin typeface="Calibri"/>
              </a:rPr>
              <a:t>ALERT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144475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Time variable — expected high (different issue dates)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1856232"/>
            <a:ext cx="11430000" cy="484632"/>
          </a:xfrm>
          <a:prstGeom prst="rect">
            <a:avLst/>
          </a:prstGeom>
          <a:solidFill>
            <a:srgbClr val="FFFFFF"/>
          </a:solidFill>
          <a:ln w="25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192938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2A"/>
                </a:solidFill>
                <a:latin typeface="Consolas"/>
              </a:rPr>
              <a:t>mths_since_earliest_cr_line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1965960"/>
            <a:ext cx="1261872" cy="25603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90872" y="194767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0.1656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1947672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39C12"/>
                </a:solidFill>
                <a:latin typeface="Calibri"/>
              </a:rPr>
              <a:t>MONITOR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194767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Credit history length has shifted slightly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359152"/>
            <a:ext cx="11430000" cy="484632"/>
          </a:xfrm>
          <a:prstGeom prst="rect">
            <a:avLst/>
          </a:prstGeom>
          <a:solidFill>
            <a:srgbClr val="F8FAFC"/>
          </a:solidFill>
          <a:ln w="25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243230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2A"/>
                </a:solidFill>
                <a:latin typeface="Consolas"/>
              </a:rPr>
              <a:t>credit_score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83280" y="2468880"/>
            <a:ext cx="832866" cy="25603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61866" y="245059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0.1093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2450592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39C12"/>
                </a:solidFill>
                <a:latin typeface="Calibri"/>
              </a:rPr>
              <a:t>MONITOR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79" y="245059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Score distribution shifted +8.5 pts upward on average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2862072"/>
            <a:ext cx="11430000" cy="484632"/>
          </a:xfrm>
          <a:prstGeom prst="rect">
            <a:avLst/>
          </a:prstGeom>
          <a:solidFill>
            <a:srgbClr val="FFFFFF"/>
          </a:solidFill>
          <a:ln w="25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293522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2A"/>
                </a:solidFill>
                <a:latin typeface="Consolas"/>
              </a:rPr>
              <a:t>grade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383280" y="2971800"/>
            <a:ext cx="701040" cy="256032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30040" y="295351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0.0920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2953512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894"/>
                </a:solidFill>
                <a:latin typeface="Calibri"/>
              </a:rPr>
              <a:t>STABLE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79" y="295351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Grade mix relatively stable 2007→2015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3364992"/>
            <a:ext cx="11430000" cy="484632"/>
          </a:xfrm>
          <a:prstGeom prst="rect">
            <a:avLst/>
          </a:prstGeom>
          <a:solidFill>
            <a:srgbClr val="F8FAFC"/>
          </a:solidFill>
          <a:ln w="25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343814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2A"/>
                </a:solidFill>
                <a:latin typeface="Consolas"/>
              </a:rPr>
              <a:t>int_rate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383280" y="3474720"/>
            <a:ext cx="637032" cy="256032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066031" y="345643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0.0836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0" y="3456432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894"/>
                </a:solidFill>
                <a:latin typeface="Calibri"/>
              </a:rPr>
              <a:t>STABLE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55279" y="345643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Interest rate distribution unchanged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3867912"/>
            <a:ext cx="11430000" cy="484632"/>
          </a:xfrm>
          <a:prstGeom prst="rect">
            <a:avLst/>
          </a:prstGeom>
          <a:solidFill>
            <a:srgbClr val="FFFFFF"/>
          </a:solidFill>
          <a:ln w="25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394106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2A"/>
                </a:solidFill>
                <a:latin typeface="Consolas"/>
              </a:rPr>
              <a:t>home_ownership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383280" y="3977640"/>
            <a:ext cx="396240" cy="256032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825240" y="39593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0.0520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7920" y="3959352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894"/>
                </a:solidFill>
                <a:latin typeface="Calibri"/>
              </a:rPr>
              <a:t>STABLE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55279" y="395935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Ownership mix stable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4370832"/>
            <a:ext cx="11430000" cy="484632"/>
          </a:xfrm>
          <a:prstGeom prst="rect">
            <a:avLst/>
          </a:prstGeom>
          <a:solidFill>
            <a:srgbClr val="F8FAFC"/>
          </a:solidFill>
          <a:ln w="25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" y="444398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2A"/>
                </a:solidFill>
                <a:latin typeface="Consolas"/>
              </a:rPr>
              <a:t>purpose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383280" y="4480560"/>
            <a:ext cx="289560" cy="256032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718560" y="446227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0.0380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17920" y="4462272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894"/>
                </a:solidFill>
                <a:latin typeface="Calibri"/>
              </a:rPr>
              <a:t>STABLE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55279" y="446227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Loan purpose mix stable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" y="4873752"/>
            <a:ext cx="11430000" cy="484632"/>
          </a:xfrm>
          <a:prstGeom prst="rect">
            <a:avLst/>
          </a:prstGeom>
          <a:solidFill>
            <a:srgbClr val="FFFFFF"/>
          </a:solidFill>
          <a:ln w="25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48640" y="494690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2A"/>
                </a:solidFill>
                <a:latin typeface="Consolas"/>
              </a:rPr>
              <a:t>emp_length_int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383280" y="4983480"/>
            <a:ext cx="84582" cy="256032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513582" y="496519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0.0111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17920" y="4965192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894"/>
                </a:solidFill>
                <a:latin typeface="Calibri"/>
              </a:rPr>
              <a:t>STABLE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955279" y="496519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Employment length unchanged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5376672"/>
            <a:ext cx="11430000" cy="484632"/>
          </a:xfrm>
          <a:prstGeom prst="rect">
            <a:avLst/>
          </a:prstGeom>
          <a:solidFill>
            <a:srgbClr val="F8FAFC"/>
          </a:solidFill>
          <a:ln w="25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48640" y="544982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2A"/>
                </a:solidFill>
                <a:latin typeface="Consolas"/>
              </a:rPr>
              <a:t>annual_inc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383280" y="5486400"/>
            <a:ext cx="65532" cy="256032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494532" y="546811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0.0086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17920" y="5468112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894"/>
                </a:solidFill>
                <a:latin typeface="Calibri"/>
              </a:rPr>
              <a:t>STABLE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955279" y="546811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Income distribution stable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65760" y="5879592"/>
            <a:ext cx="11430000" cy="484632"/>
          </a:xfrm>
          <a:prstGeom prst="rect">
            <a:avLst/>
          </a:prstGeom>
          <a:solidFill>
            <a:srgbClr val="FFFFFF"/>
          </a:solidFill>
          <a:ln w="25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48640" y="595274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2A"/>
                </a:solidFill>
                <a:latin typeface="Consolas"/>
              </a:rPr>
              <a:t>dti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383280" y="5989320"/>
            <a:ext cx="59436" cy="256032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488436" y="5971031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0.0078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217920" y="5971031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894"/>
                </a:solidFill>
                <a:latin typeface="Calibri"/>
              </a:rPr>
              <a:t>STABLE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955279" y="5971031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Debt-to-income ratio unchanged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0"/>
            <a:ext cx="12097512" cy="7772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Credit Score PSI — Key Monitoring Signal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16459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0B4D8"/>
                </a:solidFill>
                <a:latin typeface="Calibri"/>
              </a:rPr>
              <a:t>L04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6492240"/>
            <a:ext cx="12097512" cy="3657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Credit Risk Modeling System  |  Lending Club 2007–2018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14400"/>
            <a:ext cx="5486400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51206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Reference (2007–2014): mean = 680.0  std = 27.4
Actual   (2015):        mean = 688.5  std = 25.2  (+8.5 pts)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914400"/>
            <a:ext cx="5394960" cy="914400"/>
          </a:xfrm>
          <a:prstGeom prst="rect">
            <a:avLst/>
          </a:prstGeom>
          <a:solidFill>
            <a:srgbClr val="1A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005840"/>
            <a:ext cx="5029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39C12"/>
                </a:solidFill>
                <a:latin typeface="Calibri"/>
              </a:rPr>
              <a:t>Score PSI = 0.1093  →  MONITOR
2015 borrowers score higher → appear less risky on paper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011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  <a:latin typeface="Calibri"/>
              </a:rPr>
              <a:t>PSI Bucket Breakdown (10 equal-frequency buckets on reference):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468880"/>
            <a:ext cx="11430000" cy="365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54203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Score Range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254203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Ref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54203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Actual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254203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PSI Contrib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254203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Direction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852928"/>
            <a:ext cx="11430000" cy="329184"/>
          </a:xfrm>
          <a:prstGeom prst="rect">
            <a:avLst/>
          </a:prstGeom>
          <a:solidFill>
            <a:srgbClr val="F8FAFC"/>
          </a:solidFill>
          <a:ln w="25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907792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-∞ to 644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88920" y="2907792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10.0%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2907792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4C3C"/>
                </a:solidFill>
                <a:latin typeface="Calibri"/>
              </a:rPr>
              <a:t>4.0%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2907792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74C3C"/>
                </a:solidFill>
                <a:latin typeface="Calibri"/>
              </a:rPr>
              <a:t>0.0546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0" y="2907792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74C3C"/>
                </a:solidFill>
                <a:latin typeface="Calibri"/>
              </a:rPr>
              <a:t>▼ Fewer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200400"/>
            <a:ext cx="11430000" cy="329184"/>
          </a:xfrm>
          <a:prstGeom prst="rect">
            <a:avLst/>
          </a:prstGeom>
          <a:solidFill>
            <a:srgbClr val="FFFFFF"/>
          </a:solidFill>
          <a:ln w="25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3255264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644 to 656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88920" y="3255264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9.5%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3255264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7.2%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9480" y="3255264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0.0067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9760" y="3255264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74C3C"/>
                </a:solidFill>
                <a:latin typeface="Calibri"/>
              </a:rPr>
              <a:t>▼ Fewer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547872"/>
            <a:ext cx="11430000" cy="329184"/>
          </a:xfrm>
          <a:prstGeom prst="rect">
            <a:avLst/>
          </a:prstGeom>
          <a:solidFill>
            <a:srgbClr val="F8FAFC"/>
          </a:solidFill>
          <a:ln w="25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3602736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656 to 665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88920" y="3602736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9.5%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0" y="3602736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8.1%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69480" y="3602736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0.0024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09760" y="3602736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74C3C"/>
                </a:solidFill>
                <a:latin typeface="Calibri"/>
              </a:rPr>
              <a:t>▼ Fewer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3895344"/>
            <a:ext cx="11430000" cy="329184"/>
          </a:xfrm>
          <a:prstGeom prst="rect">
            <a:avLst/>
          </a:prstGeom>
          <a:solidFill>
            <a:srgbClr val="FFFFFF"/>
          </a:solidFill>
          <a:ln w="25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3950207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665 to 673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88920" y="3950207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9.8%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0" y="3950207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8.5%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69480" y="3950207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0.0017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09760" y="3950207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74C3C"/>
                </a:solidFill>
                <a:latin typeface="Calibri"/>
              </a:rPr>
              <a:t>▼ Fewer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4242816"/>
            <a:ext cx="11430000" cy="329184"/>
          </a:xfrm>
          <a:prstGeom prst="rect">
            <a:avLst/>
          </a:prstGeom>
          <a:solidFill>
            <a:srgbClr val="F8FAFC"/>
          </a:solidFill>
          <a:ln w="25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4297680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673 to 681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88920" y="4297680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10.5%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0" y="4297680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9.5%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69480" y="4297680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0.0010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09760" y="4297680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74C3C"/>
                </a:solidFill>
                <a:latin typeface="Calibri"/>
              </a:rPr>
              <a:t>▼ Fewer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4590288"/>
            <a:ext cx="11430000" cy="329184"/>
          </a:xfrm>
          <a:prstGeom prst="rect">
            <a:avLst/>
          </a:prstGeom>
          <a:solidFill>
            <a:srgbClr val="FFFFFF"/>
          </a:solidFill>
          <a:ln w="25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" y="4645151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681 to 688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788920" y="4645151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9.4%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0" y="4645151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9.2%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69480" y="4645151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0.0000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509760" y="4645151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74C3C"/>
                </a:solidFill>
                <a:latin typeface="Calibri"/>
              </a:rPr>
              <a:t>▼ Fewer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" y="4937760"/>
            <a:ext cx="11430000" cy="329184"/>
          </a:xfrm>
          <a:prstGeom prst="rect">
            <a:avLst/>
          </a:prstGeom>
          <a:solidFill>
            <a:srgbClr val="F8FAFC"/>
          </a:solidFill>
          <a:ln w="25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48640" y="4992624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688 to 696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788920" y="4992624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10.6%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29200" y="4992624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11.1%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269480" y="4992624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0.0003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509760" y="4992624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78D4"/>
                </a:solidFill>
                <a:latin typeface="Calibri"/>
              </a:rPr>
              <a:t>▲ More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5285232"/>
            <a:ext cx="11430000" cy="329184"/>
          </a:xfrm>
          <a:prstGeom prst="rect">
            <a:avLst/>
          </a:prstGeom>
          <a:solidFill>
            <a:srgbClr val="FFFFFF"/>
          </a:solidFill>
          <a:ln w="25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48640" y="5340096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696 to 704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788920" y="5340096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9.8%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029200" y="5340096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11.5%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269480" y="5340096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0.0027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509760" y="5340096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78D4"/>
                </a:solidFill>
                <a:latin typeface="Calibri"/>
              </a:rPr>
              <a:t>▲ More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65760" y="5632704"/>
            <a:ext cx="11430000" cy="329184"/>
          </a:xfrm>
          <a:prstGeom prst="rect">
            <a:avLst/>
          </a:prstGeom>
          <a:solidFill>
            <a:srgbClr val="F8FAFC"/>
          </a:solidFill>
          <a:ln w="25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48640" y="5687568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704 to 715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788920" y="5687568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10.7%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29200" y="5687568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8D4"/>
                </a:solidFill>
                <a:latin typeface="Calibri"/>
              </a:rPr>
              <a:t>14.6%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69480" y="5687568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0.0125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509760" y="5687568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8D4"/>
                </a:solidFill>
                <a:latin typeface="Calibri"/>
              </a:rPr>
              <a:t>▲ More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65760" y="5980176"/>
            <a:ext cx="11430000" cy="329184"/>
          </a:xfrm>
          <a:prstGeom prst="rect">
            <a:avLst/>
          </a:prstGeom>
          <a:solidFill>
            <a:srgbClr val="FFFFFF"/>
          </a:solidFill>
          <a:ln w="25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48640" y="6035040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715 to ∞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788920" y="6035040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10.3%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029200" y="6035040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8D4"/>
                </a:solidFill>
                <a:latin typeface="Calibri"/>
              </a:rPr>
              <a:t>16.3%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269480" y="6035040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74C3C"/>
                </a:solidFill>
                <a:latin typeface="Calibri"/>
              </a:rPr>
              <a:t>0.0274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509760" y="6035040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8D4"/>
                </a:solidFill>
                <a:latin typeface="Calibri"/>
              </a:rPr>
              <a:t>▲ More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0"/>
            <a:ext cx="12097512" cy="7772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Model Monitoring Framework &amp; Action Thresholds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16459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0B4D8"/>
                </a:solidFill>
                <a:latin typeface="Calibri"/>
              </a:rPr>
              <a:t>L04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6492240"/>
            <a:ext cx="12097512" cy="3657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Credit Risk Modeling System  |  Lending Club 2007–2018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14400"/>
            <a:ext cx="11430000" cy="45720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98755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OUR VERDICT:  Score PSI = 0.1093 → MONITOR | 8 Stable  ·  2 Monitor  ·  2 Alert (time-variable)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508760"/>
            <a:ext cx="11430000" cy="38404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819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Metric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5819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PSI Range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5819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5819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Recommended Action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1920240"/>
            <a:ext cx="11430000" cy="77724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1920240"/>
            <a:ext cx="128016" cy="77724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011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  <a:latin typeface="Calibri"/>
              </a:rPr>
              <a:t>Score PSI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2011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894"/>
                </a:solidFill>
                <a:latin typeface="Calibri"/>
              </a:rPr>
              <a:t>&lt; 0.10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011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894"/>
                </a:solidFill>
                <a:latin typeface="Calibri"/>
              </a:rPr>
              <a:t>STABLE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196596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Quarterly PSI run, no changes needed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724912"/>
            <a:ext cx="11430000" cy="7772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2724912"/>
            <a:ext cx="128016" cy="7772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281635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  <a:latin typeface="Calibri"/>
              </a:rPr>
              <a:t>Score PSI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281635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39C12"/>
                </a:solidFill>
                <a:latin typeface="Calibri"/>
              </a:rPr>
              <a:t>0.10 – 0.19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281635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39C12"/>
                </a:solidFill>
                <a:latin typeface="Calibri"/>
              </a:rPr>
              <a:t>MODERATE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2770632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Validate Gini/KS. If drop &lt; 5pp: monthly monitoring.
If 5–10pp: intercept recalibration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529584"/>
            <a:ext cx="11430000" cy="77724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3529584"/>
            <a:ext cx="128016" cy="7772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362102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  <a:latin typeface="Calibri"/>
              </a:rPr>
              <a:t>Score PSI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80" y="362102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39C12"/>
                </a:solidFill>
                <a:latin typeface="Calibri"/>
              </a:rPr>
              <a:t>0.19 – 0.25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362102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39C12"/>
                </a:solidFill>
                <a:latin typeface="Calibri"/>
              </a:rPr>
              <a:t>SIGNIFICANT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0" y="3575304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High priority. Retrain on recent data. Update WoE bins
for high-PSI variables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4334256"/>
            <a:ext cx="11430000" cy="7772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65760" y="4334256"/>
            <a:ext cx="128016" cy="7772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442569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  <a:latin typeface="Calibri"/>
              </a:rPr>
              <a:t>Score PSI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83280" y="442569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74C3C"/>
                </a:solidFill>
                <a:latin typeface="Calibri"/>
              </a:rPr>
              <a:t>&gt; 0.25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442569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74C3C"/>
                </a:solidFill>
                <a:latin typeface="Calibri"/>
              </a:rPr>
              <a:t>CRITICAL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4379976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Begin model redevelopment. New training window.
Consider XGBoost + SHAP for next version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5193792"/>
            <a:ext cx="11430000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528523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Complete Monitoring Dashboard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5650992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Gini (OOT)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5925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C4E8"/>
                </a:solidFill>
                <a:latin typeface="Calibri"/>
              </a:rPr>
              <a:t>🟢&gt;0.40 🟡0.35–0.40 🔴&lt;0.35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91840" y="5650992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KS (OOT)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91840" y="5925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C4E8"/>
                </a:solidFill>
                <a:latin typeface="Calibri"/>
              </a:rPr>
              <a:t>🟢&gt;0.25 🟡0.20–0.25 🔴&lt;0.20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26480" y="5650992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Score PSI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26480" y="5925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C4E8"/>
                </a:solidFill>
                <a:latin typeface="Calibri"/>
              </a:rPr>
              <a:t>🟢&lt;0.10 🟡0.10–0.25 🔴&gt;0.25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61120" y="5650992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Var PSI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61120" y="5925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C4E8"/>
                </a:solidFill>
                <a:latin typeface="Calibri"/>
              </a:rPr>
              <a:t>🟢&lt;0.10 🟡0.10–0.25 🔴&gt;0.25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515600" y="0"/>
            <a:ext cx="1673352" cy="109728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2926080" cy="38404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TRACK 2 —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11247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Production Pipeline
&amp; Live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4805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0C4E8"/>
                </a:solidFill>
                <a:latin typeface="Calibri"/>
              </a:rPr>
              <a:t>8 Docker services · FastAPI scoring endpoint · Airflow DAGs · MLflow registry · Grafana</a:t>
            </a:r>
          </a:p>
        </p:txBody>
      </p:sp>
      <p:sp>
        <p:nvSpPr>
          <p:cNvPr id="8" name="Rectangle 7"/>
          <p:cNvSpPr/>
          <p:nvPr/>
        </p:nvSpPr>
        <p:spPr>
          <a:xfrm>
            <a:off x="164592" y="6492240"/>
            <a:ext cx="12024360" cy="36576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10528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B4D8"/>
                </a:solidFill>
                <a:latin typeface="Calibri"/>
              </a:rPr>
              <a:t>Credit Risk Modeling System  |  Lending Club 2007–2018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0"/>
            <a:ext cx="12097512" cy="7772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Production Architecture — 8 Docker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16459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0B4D8"/>
                </a:solidFill>
                <a:latin typeface="Calibri"/>
              </a:rPr>
              <a:t>Production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6492240"/>
            <a:ext cx="12097512" cy="3657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Credit Risk Modeling System  |  Lending Club 2007–2018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05840"/>
            <a:ext cx="2743200" cy="2286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15568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onsolas"/>
              </a:rPr>
              <a:t>PostgreSQL
:5432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83080"/>
            <a:ext cx="24688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D8F0"/>
                </a:solidFill>
                <a:latin typeface="Calibri"/>
              </a:rPr>
              <a:t>6-schema warehouse
raw·staging·features
models·risk·audit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005840"/>
            <a:ext cx="2743200" cy="228600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1115568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onsolas"/>
              </a:rPr>
              <a:t>MinIO
:9000/9001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1783080"/>
            <a:ext cx="24688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D8F0"/>
                </a:solidFill>
                <a:latin typeface="Calibri"/>
              </a:rPr>
              <a:t>S3-compatible
data lake
3 buckets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005840"/>
            <a:ext cx="2743200" cy="2286000"/>
          </a:xfrm>
          <a:prstGeom prst="rect">
            <a:avLst/>
          </a:prstGeom>
          <a:solidFill>
            <a:srgbClr val="17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115568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onsolas"/>
              </a:rPr>
              <a:t>Spark
:8080/7077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1783080"/>
            <a:ext cx="24688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D8F0"/>
                </a:solidFill>
                <a:latin typeface="Calibri"/>
              </a:rPr>
              <a:t>Big data
processing
2 jobs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1005840"/>
            <a:ext cx="2743200" cy="2286000"/>
          </a:xfrm>
          <a:prstGeom prst="rect">
            <a:avLst/>
          </a:prstGeom>
          <a:solidFill>
            <a:srgbClr val="134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81160" y="1115568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onsolas"/>
              </a:rPr>
              <a:t>Airflow
:8081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1783080"/>
            <a:ext cx="24688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D8F0"/>
                </a:solidFill>
                <a:latin typeface="Calibri"/>
              </a:rPr>
              <a:t>6 DAGs
orchestrating
full pipeline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566160"/>
            <a:ext cx="2743200" cy="2286000"/>
          </a:xfrm>
          <a:prstGeom prst="rect">
            <a:avLst/>
          </a:prstGeom>
          <a:solidFill>
            <a:srgbClr val="0F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675887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onsolas"/>
              </a:rPr>
              <a:t>MLflow
:5001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343400"/>
            <a:ext cx="24688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D8F0"/>
                </a:solidFill>
                <a:latin typeface="Calibri"/>
              </a:rPr>
              <a:t>Experiment
tracking &amp;
model registry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91840" y="3566160"/>
            <a:ext cx="2743200" cy="228600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29000" y="3675887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onsolas"/>
              </a:rPr>
              <a:t>FastAPI
:8000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4343400"/>
            <a:ext cx="24688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D8F0"/>
                </a:solidFill>
                <a:latin typeface="Calibri"/>
              </a:rPr>
              <a:t>Real-time
scoring
endpoint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3566160"/>
            <a:ext cx="2743200" cy="2286000"/>
          </a:xfrm>
          <a:prstGeom prst="rect">
            <a:avLst/>
          </a:prstGeom>
          <a:solidFill>
            <a:srgbClr val="7B2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3675887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onsolas"/>
              </a:rPr>
              <a:t>Prometheus
:9090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4343400"/>
            <a:ext cx="24688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D8F0"/>
                </a:solidFill>
                <a:latin typeface="Calibri"/>
              </a:rPr>
              <a:t>Metrics
collection &amp;
alerts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0" y="3566160"/>
            <a:ext cx="2743200" cy="2286000"/>
          </a:xfrm>
          <a:prstGeom prst="rect">
            <a:avLst/>
          </a:prstGeom>
          <a:solidFill>
            <a:srgbClr val="6E2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81160" y="3675887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onsolas"/>
              </a:rPr>
              <a:t>Grafana
:3000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81160" y="4343400"/>
            <a:ext cx="24688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D8F0"/>
                </a:solidFill>
                <a:latin typeface="Calibri"/>
              </a:rPr>
              <a:t>Dashboards
&amp; monitoring
visuals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2636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75569"/>
                </a:solidFill>
                <a:latin typeface="Calibri"/>
              </a:rPr>
              <a:t>Data Flow: CSV → MinIO → Spark ingestion → PostgreSQL → Airflow DAGs → MLflow training → FastAPI scoring → Grafana dashboards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0"/>
            <a:ext cx="12097512" cy="7772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FastAPI Scoring Endpoint — 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16459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0B4D8"/>
                </a:solidFill>
                <a:latin typeface="Calibri"/>
              </a:rPr>
              <a:t>Production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6492240"/>
            <a:ext cx="12097512" cy="3657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Credit Risk Modeling System  |  Lending Club 2007–2018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14400"/>
            <a:ext cx="5486400" cy="52120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Request — POST /score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44752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FF90"/>
                </a:solidFill>
                <a:latin typeface="Consolas"/>
              </a:rPr>
              <a:t>{
  "loan_amnt": 15000,
  "funded_amnt": 15000,
  "term_int": 36,
  "int_rate": 0.1199,
  "grade": "B",
  "annual_inc": 75000,
  "fico_score": 710,
  "dti": 18.5,
  "revol_util": 0.42,
  "inq_last_6mths": 1,
  "home_ownership": "MORTGAGE",
  "purpose": "debt_consolidation"
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914400"/>
            <a:ext cx="5577840" cy="5212080"/>
          </a:xfrm>
          <a:prstGeom prst="rect">
            <a:avLst/>
          </a:prstGeom>
          <a:solidFill>
            <a:srgbClr val="0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00584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Response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463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6C8FF"/>
                </a:solidFill>
                <a:latin typeface="Consolas"/>
              </a:rPr>
              <a:t>"pd":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1463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onsolas"/>
              </a:rPr>
              <a:t>0.030303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153619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0A0C0"/>
                </a:solidFill>
                <a:latin typeface="Calibri"/>
              </a:rPr>
              <a:t>3.0% probability of default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011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6C8FF"/>
                </a:solidFill>
                <a:latin typeface="Consolas"/>
              </a:rPr>
              <a:t>"lgd":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20116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onsolas"/>
              </a:rPr>
              <a:t>0.45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208483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0A0C0"/>
                </a:solidFill>
                <a:latin typeface="Calibri"/>
              </a:rPr>
              <a:t>45% loss given default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560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6C8FF"/>
                </a:solidFill>
                <a:latin typeface="Consolas"/>
              </a:rPr>
              <a:t>"ead":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2560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onsolas"/>
              </a:rPr>
              <a:t>$15,000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263347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0A0C0"/>
                </a:solidFill>
                <a:latin typeface="Calibri"/>
              </a:rPr>
              <a:t>Full exposure at default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108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6C8FF"/>
                </a:solidFill>
                <a:latin typeface="Consolas"/>
              </a:rPr>
              <a:t>"expected_loss":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31089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onsolas"/>
              </a:rPr>
              <a:t>$204.55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318211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0A0C0"/>
                </a:solidFill>
                <a:latin typeface="Calibri"/>
              </a:rPr>
              <a:t>PD × LGD × EAD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657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6C8FF"/>
                </a:solidFill>
                <a:latin typeface="Consolas"/>
              </a:rPr>
              <a:t>"credit_score":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36576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onsolas"/>
              </a:rPr>
              <a:t>700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373075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0A0C0"/>
                </a:solidFill>
                <a:latin typeface="Calibri"/>
              </a:rPr>
              <a:t>AB risk class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206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6C8FF"/>
                </a:solidFill>
                <a:latin typeface="Consolas"/>
              </a:rPr>
              <a:t>"risk_class":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42062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onsolas"/>
              </a:rPr>
              <a:t>"AB"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0" y="427939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0A0C0"/>
                </a:solidFill>
                <a:latin typeface="Calibri"/>
              </a:rPr>
              <a:t>Score range 700–739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75487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6C8FF"/>
                </a:solidFill>
                <a:latin typeface="Consolas"/>
              </a:rPr>
              <a:t>"decision":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0" y="4754879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894"/>
                </a:solidFill>
                <a:latin typeface="Consolas"/>
              </a:rPr>
              <a:t>APPROVE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0" y="4828031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0A0C0"/>
                </a:solidFill>
                <a:latin typeface="Calibri"/>
              </a:rPr>
              <a:t>ROI &gt; 2.15% base rate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5303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6C8FF"/>
                </a:solidFill>
                <a:latin typeface="Consolas"/>
              </a:rPr>
              <a:t>"annualized_roi":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53035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894"/>
                </a:solidFill>
                <a:latin typeface="Consolas"/>
              </a:rPr>
              <a:t>11.54%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41280" y="537667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0A0C0"/>
                </a:solidFill>
                <a:latin typeface="Calibri"/>
              </a:rPr>
              <a:t>Net return after EL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30936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75569"/>
                </a:solidFill>
                <a:latin typeface="Calibri"/>
              </a:rPr>
              <a:t>Response time: &lt; 50ms  ·  Models loaded at startup from data/models/*.pkl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0"/>
            <a:ext cx="12097512" cy="7772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Airflow DAGs — Pipeline Orchestration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16459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0B4D8"/>
                </a:solidFill>
                <a:latin typeface="Calibri"/>
              </a:rPr>
              <a:t>Production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6492240"/>
            <a:ext cx="12097512" cy="3657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Credit Risk Modeling System  |  Lending Club 2007–2018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14400"/>
            <a:ext cx="11430000" cy="43891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987552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DAG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79" y="987552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Schedule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9" y="987552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Description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389888"/>
            <a:ext cx="11430000" cy="74980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1389888"/>
            <a:ext cx="109728" cy="74980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15544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  <a:latin typeface="Consolas"/>
              </a:rPr>
              <a:t>01_ingestion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159105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Manual trigger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155448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Spark: CSV from MinIO → raw.loan_applications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167128"/>
            <a:ext cx="11430000" cy="74980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2167128"/>
            <a:ext cx="109728" cy="74980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23317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  <a:latin typeface="Consolas"/>
              </a:rPr>
              <a:t>02_cleaning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236829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Manual trigger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233172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Spark: raw → staging.loans_cleaned + OOT split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944368"/>
            <a:ext cx="11430000" cy="74980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2944368"/>
            <a:ext cx="109728" cy="74980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1089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  <a:latin typeface="Consolas"/>
              </a:rPr>
              <a:t>03_pd_training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314553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Manual trigger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310896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Logistic regression + backward elim → scorecard.csv + MLflow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721608"/>
            <a:ext cx="11430000" cy="74980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3721608"/>
            <a:ext cx="109728" cy="74980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38862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  <a:latin typeface="Consolas"/>
              </a:rPr>
              <a:t>04_lgd_ead_training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43400" y="392277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Manual trigger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388620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2-stage LGD + EAD → pkl files + MLflow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498848"/>
            <a:ext cx="11430000" cy="74980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5760" y="4498848"/>
            <a:ext cx="109728" cy="74980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466344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  <a:latin typeface="Consolas"/>
              </a:rPr>
              <a:t>05_batch_scoring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470001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Manual trigger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466344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Score all OOT loans → risk.expected_loss table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5276088"/>
            <a:ext cx="11430000" cy="74980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65760" y="5276088"/>
            <a:ext cx="109728" cy="749808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360" y="5440679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  <a:latin typeface="Consolas"/>
              </a:rPr>
              <a:t>06_monitoring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43400" y="5477255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894"/>
                </a:solidFill>
                <a:latin typeface="Calibri"/>
              </a:rPr>
              <a:t>Daily 6am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0" y="5440679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PSI for all variables → risk.population_stability + alerts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1264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75569"/>
                </a:solidFill>
                <a:latin typeface="Calibri"/>
              </a:rPr>
              <a:t>All 6 DAGs written and awaiting Airflow webserver start. PSI alert triggers rebuild workflow automatically.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515600" y="0"/>
            <a:ext cx="1673352" cy="109728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2926080" cy="38404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11247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Project Complete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4805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0C4E8"/>
                </a:solidFill>
                <a:latin typeface="Calibri"/>
              </a:rPr>
              <a:t>From raw CSV to production scoring API — end-to-end credit risk system</a:t>
            </a:r>
          </a:p>
        </p:txBody>
      </p:sp>
      <p:sp>
        <p:nvSpPr>
          <p:cNvPr id="8" name="Rectangle 7"/>
          <p:cNvSpPr/>
          <p:nvPr/>
        </p:nvSpPr>
        <p:spPr>
          <a:xfrm>
            <a:off x="164592" y="6492240"/>
            <a:ext cx="12024360" cy="36576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10528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B4D8"/>
                </a:solidFill>
                <a:latin typeface="Calibri"/>
              </a:rPr>
              <a:t>Credit Risk Modeling System  |  Lending Club 2007–2018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188720"/>
            <a:ext cx="2743200" cy="25603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29844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L01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8288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Preprocessing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304288"/>
            <a:ext cx="246888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395728"/>
            <a:ext cx="24688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0E8FF"/>
                </a:solidFill>
                <a:latin typeface="Calibri"/>
              </a:rPr>
              <a:t>831K train · 56 WoE dummies
OOT split 2007-15 / 2016-18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1188720"/>
            <a:ext cx="2743200" cy="2560320"/>
          </a:xfrm>
          <a:prstGeom prst="rect">
            <a:avLst/>
          </a:prstGeom>
          <a:solidFill>
            <a:srgbClr val="6C3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129844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L02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18288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PD Model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29000" y="2304288"/>
            <a:ext cx="246888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29000" y="2395728"/>
            <a:ext cx="24688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0E8FF"/>
                </a:solidFill>
                <a:latin typeface="Calibri"/>
              </a:rPr>
              <a:t>49 features · AUC 0.693
Scorecard 300–850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188720"/>
            <a:ext cx="2743200" cy="256032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129844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L03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18288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LGD / EAD / EL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5080" y="2304288"/>
            <a:ext cx="246888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2395728"/>
            <a:ext cx="24688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0E8FF"/>
                </a:solidFill>
                <a:latin typeface="Calibri"/>
              </a:rPr>
              <a:t>2-stage LGD MAE 6.7%
$3.26B EAD · $383M EL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0" y="1188720"/>
            <a:ext cx="2743200" cy="25603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81160" y="129844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L04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81160" y="18288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PSI Monitoring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281160" y="2304288"/>
            <a:ext cx="246888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81160" y="2395728"/>
            <a:ext cx="24688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0E8FF"/>
                </a:solidFill>
                <a:latin typeface="Calibri"/>
              </a:rPr>
              <a:t>Score PSI 0.109 MONITOR
8 stable · 2 monitor · 2 alert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3977639"/>
            <a:ext cx="2148840" cy="11887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06908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0.693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6634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D0FF"/>
                </a:solidFill>
                <a:latin typeface="Calibri"/>
              </a:rPr>
              <a:t>OOT AUC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51760" y="3977639"/>
            <a:ext cx="2148840" cy="11887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0" y="406908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0.386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0" y="46634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D0FF"/>
                </a:solidFill>
                <a:latin typeface="Calibri"/>
              </a:rPr>
              <a:t>OOT Gini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937760" y="3977639"/>
            <a:ext cx="2148840" cy="11887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0" y="406908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$383M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0" y="46634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D0FF"/>
                </a:solidFill>
                <a:latin typeface="Calibri"/>
              </a:rPr>
              <a:t>Portfolio EL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223760" y="3977639"/>
            <a:ext cx="2148840" cy="11887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0" y="406908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0.109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0" y="46634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D0FF"/>
                </a:solidFill>
                <a:latin typeface="Calibri"/>
              </a:rPr>
              <a:t>Score PSI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509760" y="3977639"/>
            <a:ext cx="2148840" cy="11887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01200" y="406908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&lt; 50ms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01200" y="46634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D0FF"/>
                </a:solidFill>
                <a:latin typeface="Calibri"/>
              </a:rPr>
              <a:t>API Response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53492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0D4FF"/>
                </a:solidFill>
                <a:latin typeface="Calibri"/>
              </a:rPr>
              <a:t>Regulatory compliance: IFRS 9 · Basel III · SR 11-7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70B4E0"/>
                </a:solidFill>
                <a:latin typeface="Calibri"/>
              </a:rPr>
              <a:t>Production stack: PySpark · PostgreSQL · Airflow · MLflow · FastAPI · Prometheus · Grafana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640080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Thank You  |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