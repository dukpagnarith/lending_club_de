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Credit Risk Modeling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E8"/>
                </a:solidFill>
                <a:latin typeface="Calibri"/>
              </a:rPr>
              <a:t>Probability of Default · Loss Given Default · Expected Loss · PSI Monitoring
Lending Club Dataset 2007–2018  |  2.26M Loans  |  $3.26B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6492240"/>
            <a:ext cx="1202436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D8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806440"/>
            <a:ext cx="114300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E8"/>
                </a:solidFill>
                <a:latin typeface="Calibri"/>
              </a:rPr>
              <a:t>A complete end-to-end credit risk pipeline: data → model → scorecard → production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Agenda — 60-Minute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11338560" cy="868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155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0:00 – 0:10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097280"/>
            <a:ext cx="777240" cy="34747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111556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0789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Dataset &amp;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4630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2.26M rows · 151 columns · WoE · OOT split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11338560" cy="8686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214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0:10 – 0:28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103120"/>
            <a:ext cx="777240" cy="34747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04288" y="212140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0848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PD Model &amp; Scorecard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4688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Logistic regression · Gini 0.387 · 300–850 scorecard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11338560" cy="868680"/>
          </a:xfrm>
          <a:prstGeom prst="rect">
            <a:avLst/>
          </a:prstGeom>
          <a:solidFill>
            <a:srgbClr val="17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272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0:28 – 0:44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108960"/>
            <a:ext cx="777240" cy="34747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04288" y="312724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0906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LGD / EAD / Expected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4747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2-stage LGD · EAD · $650M portfolio 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23360"/>
            <a:ext cx="11338560" cy="868680"/>
          </a:xfrm>
          <a:prstGeom prst="rect">
            <a:avLst/>
          </a:prstGeom>
          <a:solidFill>
            <a:srgbClr val="134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330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0:44 – 0:54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114800"/>
            <a:ext cx="777240" cy="34747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04288" y="413308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0965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PSI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480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Score PSI 0.282 · Drift detection · Action framework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029200"/>
            <a:ext cx="11338560" cy="868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1389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0:54 – 1:00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5120640"/>
            <a:ext cx="777240" cy="34747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04288" y="513892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1023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Production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4864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FastAPI · MLflow · Airflow ·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Credit Risk Modeling?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Calibri"/>
              </a:rPr>
              <a:t>Regulatory &amp; Business Drivers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3657600" cy="1920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IFRS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0"/>
                </a:solidFill>
                <a:latin typeface="Calibri"/>
              </a:rPr>
              <a:t>Expected Credit Loss provisioning.
Stage 1/2/3 classification based on PD.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657600" cy="192024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6420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Basel 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0"/>
                </a:solidFill>
                <a:latin typeface="Calibri"/>
              </a:rPr>
              <a:t>Capital requirements linked to PD,
LGD and EAD via RWA × 8% formula.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657600" cy="1920240"/>
          </a:xfrm>
          <a:prstGeom prst="rect">
            <a:avLst/>
          </a:prstGeom>
          <a:solidFill>
            <a:srgbClr val="195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6420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SR 11-7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0"/>
                </a:solidFill>
                <a:latin typeface="Calibri"/>
              </a:rPr>
              <a:t>Model risk governance: full audit trail,
independent validation, monitoring.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57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Calibri"/>
              </a:rPr>
              <a:t>Business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605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▸  Reduce credit losses by identifying high-risk borrowers before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99431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▸  Optimize portfolio ROI: approve loans where interest income &gt; expected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383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▸  Quantify provisions: how much capital to set aside for future defaults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7725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▸  Early warning: PSI monitoring detects population drift before losses materialize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Lending Club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265176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6984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2.26M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Total Loan Applications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960120"/>
            <a:ext cx="265176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06984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151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737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Raw Columns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60120"/>
            <a:ext cx="265176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106984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1.6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1737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Raw CSV Size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960120"/>
            <a:ext cx="265176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106984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2007–2018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1737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Date 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560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Out-of-Time Split Strategy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7498079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12724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TRAIN  (2007–2015)   831,051 loans   Default rate: 18.62%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3017520"/>
            <a:ext cx="365760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31272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OOT TEST  (2016–2018)   538,515 loans   DR: 25.27%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97763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75569"/>
                </a:solidFill>
                <a:latin typeface="Calibri"/>
              </a:rPr>
              <a:t>← No future data leaks into training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572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Column Journey: 151 raw  →  57 dropped  →  56 WoE dummy variables for logistic regression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120640"/>
            <a:ext cx="1828800" cy="11887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212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100% null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Dropped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35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5120640"/>
            <a:ext cx="1828800" cy="11887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5212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Identifiers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Dropped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6035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5120640"/>
            <a:ext cx="1828800" cy="11887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5212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Post-app leakage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Dropped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035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5120640"/>
            <a:ext cx="1828800" cy="11887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79" y="5212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Near-zero var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79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Dropped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79" y="6035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5120640"/>
            <a:ext cx="1828800" cy="11887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5212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Joint/hardship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Dropped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6035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17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95560" y="5120640"/>
            <a:ext cx="1828800" cy="1188720"/>
          </a:xfrm>
          <a:prstGeom prst="rect">
            <a:avLst/>
          </a:prstGeom>
          <a:solidFill>
            <a:srgbClr val="00B894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87000" y="5212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WoE Dummies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87000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8D4"/>
                </a:solidFill>
                <a:latin typeface="Calibri"/>
              </a:rPr>
              <a:t>KEPT → 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87000" y="6035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9260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NOTEBOOK 1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L01 — Data Preprocessing
&amp; 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E8"/>
                </a:solidFill>
                <a:latin typeface="Calibri"/>
              </a:rPr>
              <a:t>Cleaning · Format conversions · WoE · Dummy variables · OOT split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6492240"/>
            <a:ext cx="1202436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D8"/>
                </a:solidFill>
                <a:latin typeface="Calibri"/>
              </a:rPr>
              <a:t>Credit Risk Modeling System  |  Lending Club 2007–2018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7-Step Data Cleaning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E74C3C"/>
                </a:solidFill>
                <a:latin typeface="Calibri"/>
              </a:rPr>
              <a:t>Critical: Create target variables BEFORE dropping leakage columns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02920" cy="5303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72184"/>
            <a:ext cx="502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Create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4538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good_bad, recovery_rate, CCF from raw columns before any drops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47672"/>
            <a:ext cx="109728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502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57984"/>
            <a:ext cx="502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1396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Drop 100%-null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1396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8 columns with no data whatsoever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633472"/>
            <a:ext cx="109728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88920"/>
            <a:ext cx="502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43784"/>
            <a:ext cx="502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Drop Identifiers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8254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id, url, emp_title, zip_code — no predictive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319272"/>
            <a:ext cx="109728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474720"/>
            <a:ext cx="502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529584"/>
            <a:ext cx="502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5112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Drop Leakage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5112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21 post-origination cols: total_pymnt, recoveries, last_fico…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05072"/>
            <a:ext cx="109728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160520"/>
            <a:ext cx="502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215383"/>
            <a:ext cx="502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1970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Near-zero variance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1970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8 cols: tax_liens, acc_now_delinq — near-constant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690872"/>
            <a:ext cx="109728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846320"/>
            <a:ext cx="502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901183"/>
            <a:ext cx="502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882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Joint/Hardship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48828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17 cols: annual_inc_joint, hardship_* — &gt;80% null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376672"/>
            <a:ext cx="109728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5532120"/>
            <a:ext cx="502920" cy="5303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586983"/>
            <a:ext cx="502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5686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Format Conversions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5686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term '36 months'→36  ·  int_rate 13.99→0.1399  ·  FICO avg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Three Target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3657600" cy="5303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PD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44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nsolas"/>
              </a:rPr>
              <a:t>good_bad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1 = Fully Paid, 0 = Charged Off / Default / Late 31-120d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F0"/>
                </a:solidFill>
                <a:latin typeface="Calibri"/>
              </a:rPr>
              <a:t>Binary classification — logistic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F0"/>
                </a:solidFill>
                <a:latin typeface="Calibri"/>
              </a:rPr>
              <a:t>18.62% bad rate (train)  ·  25.27% (OOT test)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914400"/>
            <a:ext cx="3657600" cy="53035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005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LGD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444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nsolas"/>
              </a:rPr>
              <a:t>recovery_rate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011680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1031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Recoveries / Funded Amount — clipped to [0, 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834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F0"/>
                </a:solidFill>
                <a:latin typeface="Calibri"/>
              </a:rPr>
              <a:t>Only computed for defaulted loans (good_bad = 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520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F0"/>
                </a:solidFill>
                <a:latin typeface="Calibri"/>
              </a:rPr>
              <a:t>23.9% have zero recovery (bimodal → 2-stage model)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914400"/>
            <a:ext cx="3657600" cy="5303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005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EAD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444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nsolas"/>
              </a:rPr>
              <a:t>ccf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2011680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1031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(Funded Amount − Total Paid) / Funded Amount → [0,1]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834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F0"/>
                </a:solidFill>
                <a:latin typeface="Calibri"/>
              </a:rPr>
              <a:t>Credit Conversion Factor: fraction outstanding at default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520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F0"/>
                </a:solidFill>
                <a:latin typeface="Calibri"/>
              </a:rPr>
              <a:t>Mean CCF train = 0.39  ·  Mean CCF test = 0.56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EL = PD × LGD × EAD    where    LGD = 1 − Recovery Rate    and    EAD = CCF × Funded Amount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Weight of Evidence (WoE) &amp; Information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731520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5156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onsolas"/>
              </a:rPr>
              <a:t>WoE_i  =  ln( %Goods_i / %Bads_i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8E8"/>
                </a:solidFill>
                <a:latin typeface="Consolas"/>
              </a:rPr>
              <a:t>IV  =  Σ ( %Goods_i − %Bads_i ) × WoE_i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914400"/>
            <a:ext cx="411480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9875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IV     Strength   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3167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&lt; 0.02     Useless     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56362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6A00"/>
                </a:solidFill>
                <a:latin typeface="Calibri"/>
              </a:rPr>
              <a:t>0.02–0.10  Weak         Consider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8105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894"/>
                </a:solidFill>
                <a:latin typeface="Calibri"/>
              </a:rPr>
              <a:t>0.10–0.30  Medium       Keep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057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894"/>
                </a:solidFill>
                <a:latin typeface="Calibri"/>
              </a:rPr>
              <a:t>0.30–0.50  Strong       Keep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3042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&gt; 0.50     Suspicious   Check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Key IV results from training data (831K loans)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4612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37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grade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94759"/>
            <a:ext cx="19812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29840" y="37947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IV = 0.52  Check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24612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337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int_rate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3794759"/>
            <a:ext cx="1447800" cy="20116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22520" y="37947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894"/>
                </a:solidFill>
                <a:latin typeface="Calibri"/>
              </a:rPr>
              <a:t>IV = 0.38  Strong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4612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337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fico_score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794759"/>
            <a:ext cx="1181100" cy="20116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1899" y="37947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894"/>
                </a:solidFill>
                <a:latin typeface="Calibri"/>
              </a:rPr>
              <a:t>IV = 0.31  Strong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324612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3337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dti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3794759"/>
            <a:ext cx="533400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60280" y="37947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alibri"/>
              </a:rPr>
              <a:t>IV = 0.14  Medium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4340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term_int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892040"/>
            <a:ext cx="495300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394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alibri"/>
              </a:rPr>
              <a:t>IV = 0.13  Medium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434340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annual_inc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4892040"/>
            <a:ext cx="419100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9382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alibri"/>
              </a:rPr>
              <a:t>IV = 0.11  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34340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revol_util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4892040"/>
            <a:ext cx="228600" cy="20116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IV = 0.06  Weak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434340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116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inq_last_6mths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4892040"/>
            <a:ext cx="190500" cy="20116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1738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IV = 0.05  Weak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Exploratory Data Analysis —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00" cy="5303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Default Rate by Grade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08789"/>
            <a:ext cx="530352" cy="44609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7162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44752" y="3924228"/>
            <a:ext cx="530352" cy="830651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4752" y="4846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7870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11%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57984" y="3501211"/>
            <a:ext cx="530352" cy="12536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57984" y="4846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984" y="33640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16%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71215" y="3032047"/>
            <a:ext cx="530352" cy="17228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71215" y="4846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289488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22%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4448" y="2470589"/>
            <a:ext cx="530352" cy="228429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4448" y="4846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233342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30%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870674"/>
            <a:ext cx="530352" cy="2884205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4846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173351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38%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10912" y="1463040"/>
            <a:ext cx="530352" cy="3291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0912" y="4846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13258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43%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897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Grade A borrowers default 6× less than Grade 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914400"/>
            <a:ext cx="5577840" cy="5303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005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FICO Score: Good vs Bad Borrowers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494997"/>
            <a:ext cx="210312" cy="16844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11112" y="3989671"/>
            <a:ext cx="210312" cy="6737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94576" y="4326555"/>
            <a:ext cx="210312" cy="33688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04888" y="3484345"/>
            <a:ext cx="210312" cy="117909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88352" y="3821229"/>
            <a:ext cx="210312" cy="84221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98664" y="2642134"/>
            <a:ext cx="210312" cy="2021305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82128" y="3315903"/>
            <a:ext cx="210312" cy="134753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2440" y="2136808"/>
            <a:ext cx="210312" cy="2526631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75904" y="2642134"/>
            <a:ext cx="210312" cy="2021305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86216" y="1968366"/>
            <a:ext cx="210312" cy="2695073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69680" y="1799924"/>
            <a:ext cx="210312" cy="2863515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79992" y="2136808"/>
            <a:ext cx="210312" cy="2526631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63456" y="1463039"/>
            <a:ext cx="210312" cy="32004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73768" y="2642134"/>
            <a:ext cx="210312" cy="2021305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57232" y="1631482"/>
            <a:ext cx="210312" cy="3031957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67544" y="3147461"/>
            <a:ext cx="210312" cy="151597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51008" y="2810576"/>
            <a:ext cx="210312" cy="1852863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61320" y="3652787"/>
            <a:ext cx="210312" cy="10106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844784" y="3484345"/>
            <a:ext cx="210312" cy="117909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055096" y="3989671"/>
            <a:ext cx="210312" cy="6737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4754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Mean FICO — Good: 700.1   Bad: 671.4   Gap: 28.7 pts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166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▬ Good borrowers   ▬ Bad borrowers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897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■ Good    ■ Bad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L01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831,051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Training Loans
2007–2015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11556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74C3C"/>
                </a:solidFill>
                <a:latin typeface="Calibri"/>
              </a:rPr>
              <a:t>538,515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OOT Test Loans
2016–2018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0584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111556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894"/>
                </a:solidFill>
                <a:latin typeface="Calibri"/>
              </a:rPr>
              <a:t>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WoE Dummy
Features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00584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111556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2A"/>
                </a:solidFill>
                <a:latin typeface="Calibri"/>
              </a:rPr>
              <a:t>18.62%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Train Default
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Key Design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46120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Out-of-time split: 2007–2015 train / 2016–2018 OOT — prevents look-ahead bias (3-year holdout)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21608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WoE bins fitted on TRAINING SET ONLY — OOT set uses the same fixed bin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97096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Missing values treated as their own WoE bin (sentinel = -1), NOT imputed 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72583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int_rate divided by 100 (raw CSV stores percentages, not decimals)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48072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FICO score = average of fico_range_low and fico_range_high (strong predictor not in most GitHub tutorials)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23560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Dummy column list made explicit (prefix matching was capturing raw categorical columns)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9260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NOTEBOOK 2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L02 — PD Model, Scorecard
&amp; Credit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E8"/>
                </a:solidFill>
                <a:latin typeface="Calibri"/>
              </a:rPr>
              <a:t>Logistic regression · Backward elimination · AUC 0.693 · 300–850 Scorecard · ROI 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6492240"/>
            <a:ext cx="1202436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D8"/>
                </a:solidFill>
                <a:latin typeface="Calibri"/>
              </a:rPr>
              <a:t>Credit Risk Modeling System  |  Lending Club 2007–2018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Logistic Regression?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</a:rPr>
              <a:t>log( P(Good) / P(Bad) ) = β₀ + β₁x₁ + β₂x₂ + … + βₖxₖ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2743200" cy="3840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Interpretable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5"/>
                </a:solidFill>
                <a:latin typeface="Calibri"/>
              </a:rPr>
              <a:t>Each coefficient maps directly to log-odds of default. Regulators can inspect every term.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148840"/>
            <a:ext cx="2743200" cy="38404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Basel II/III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3464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5"/>
                </a:solidFill>
                <a:latin typeface="Calibri"/>
              </a:rPr>
              <a:t>Advanced IRB approach requires logistic PD models with documented p-values.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48840"/>
            <a:ext cx="2743200" cy="3840480"/>
          </a:xfrm>
          <a:prstGeom prst="rect">
            <a:avLst/>
          </a:prstGeom>
          <a:solidFill>
            <a:srgbClr val="17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statsmodels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5"/>
                </a:solidFill>
                <a:latin typeface="Calibri"/>
              </a:rPr>
              <a:t>sklearn LogisticRegression gives no p-values. statsmodels provides Wald test per coefficient.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148840"/>
            <a:ext cx="2743200" cy="3840480"/>
          </a:xfrm>
          <a:prstGeom prst="rect">
            <a:avLst/>
          </a:prstGeom>
          <a:solidFill>
            <a:srgbClr val="13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83464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5"/>
                </a:solidFill>
                <a:latin typeface="Calibri"/>
              </a:rPr>
              <a:t>On 831K training examples, logistic regression is robust — no overfitting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E74C3C"/>
                </a:solidFill>
                <a:latin typeface="Calibri"/>
              </a:rPr>
              <a:t>Key difference vs sklearn: statsmodels provides Wald test p-values → required for regulatory documentation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Feature Selection — Backward Elimination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Start with all 56 dummy variables → iteratively remove the least significant (highest p-value &gt; 0.05) → stop when all remaining have p &lt; 0.05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828800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21408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56 features
(all dummies)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3172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2011680"/>
            <a:ext cx="1828800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121408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Fit Logit
(Newton)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33172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011680"/>
            <a:ext cx="1828800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121408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Remove worst
p &gt; 0.05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3172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011680"/>
            <a:ext cx="1828800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121408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Check
convergence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33172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2011680"/>
            <a:ext cx="1828800" cy="10058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121408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 features
✓ all p&lt;0.05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Calibri"/>
              </a:rPr>
              <a:t>Removed 7 variables: int_rate_088_117 was last (p=0.1523 before removal)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703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894"/>
                </a:solidFill>
                <a:latin typeface="Calibri"/>
              </a:rPr>
              <a:t>Final: 49 features   |   All p-values &lt; 0.05   |   Converged in 7 iterations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976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94"/>
                </a:solidFill>
                <a:latin typeface="Calibri"/>
              </a:rPr>
              <a:t>Top Positive Coefficients (lower default risk)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2976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Most Negative Coefficients (higher default risk)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4107789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0709" y="4773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grade_A                   +1.3477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74920"/>
            <a:ext cx="3186988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9908" y="509320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grade_B                   +1.0456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94960"/>
            <a:ext cx="2321661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24581" y="54132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grade_C                   +0.7617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715000"/>
            <a:ext cx="2246680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9600" y="57332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term_36                   +0.7371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035040"/>
            <a:ext cx="1662379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65299" y="605332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dti_lt_10                 +0.5454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754880"/>
            <a:ext cx="2980029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43669" y="4773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fico_640_680              -0.3259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074920"/>
            <a:ext cx="1703527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67167" y="509320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fico_680_720              -0.1863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394960"/>
            <a:ext cx="1200607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64247" y="54132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int_rate_117_148          -0.1313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5715000"/>
            <a:ext cx="1094536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58176" y="57332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verif_Source_Verified     -0.1197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6035040"/>
            <a:ext cx="951890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15530" y="605332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verif_Verified            -0.1041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PD 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987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987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OOT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87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987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987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11430000" cy="7315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618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1618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0.7136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618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0.6937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618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&gt; 0.65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618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894"/>
                </a:solidFill>
                <a:latin typeface="Calibri"/>
              </a:rPr>
              <a:t>0.0205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15819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✓ Stable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94560"/>
            <a:ext cx="11430000" cy="7315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Gini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0.4273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0.3874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&gt; 0.40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894"/>
                </a:solidFill>
                <a:latin typeface="Calibri"/>
              </a:rPr>
              <a:t>0.0411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3591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✓ Stable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71800"/>
            <a:ext cx="11430000" cy="7315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172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3172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0.3093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172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0.2813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172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&gt; 0.25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172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894"/>
                </a:solidFill>
                <a:latin typeface="Calibri"/>
              </a:rPr>
              <a:t>0.0292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1363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✓ Stable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749039"/>
            <a:ext cx="11430000" cy="7315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950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Brier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3950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0.1374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950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0.1750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950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&lt; 0.10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950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894"/>
                </a:solidFill>
                <a:latin typeface="Calibri"/>
              </a:rPr>
              <a:t>0.0375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3913631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✓ Stable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All 4 metrics pass OOT thresholds. Train/Test gap &lt; 0.05 confirms no overfitting.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029200"/>
            <a:ext cx="530352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120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ROC Curve: AUC Train=0.714  AUC OOT=0.694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Curves remain close → model generalises to 2016–2018 borrowers without retraining.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5029200"/>
            <a:ext cx="576072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51206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Gini 0.387 on OOT exceeds the 0.35 rebuild threshold.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57784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KS 0.28 confirms meaningful separation between good and bad borrowers on unseen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Credit Scorecard — 300 to 850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713232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Score = Offset + Factor × log_odds      Factor = PDO/ln(2) = 28.85      Offset = 600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914400"/>
            <a:ext cx="41148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024128"/>
            <a:ext cx="3840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PDO = 20 pts   Ref Score = 600 @ 1:1 odds
Each +20 pts doubles the good:bad odds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1115568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08760" y="2011680"/>
            <a:ext cx="1115568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51760" y="2011680"/>
            <a:ext cx="1115568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94760" y="2011680"/>
            <a:ext cx="1115568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2011680"/>
            <a:ext cx="1115568" cy="4572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2011680"/>
            <a:ext cx="1115568" cy="4572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2011680"/>
            <a:ext cx="1115568" cy="4572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2011680"/>
            <a:ext cx="1115568" cy="4572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2011680"/>
            <a:ext cx="1115568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52760" y="2011680"/>
            <a:ext cx="111556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385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435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490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545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600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655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710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765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820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95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850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Selected Scorecard Entries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37560"/>
            <a:ext cx="1143000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4107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34107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Coefficient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4107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Score 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107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749039"/>
            <a:ext cx="1143000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803903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grade_A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380390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+1.3477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80390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Calibri"/>
              </a:rPr>
              <a:t>-27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3803903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Best-in-class borrowers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087368"/>
            <a:ext cx="11430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14223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grade_B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142231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+1.0456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1422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Calibri"/>
              </a:rPr>
              <a:t>-18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142231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Low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425696"/>
            <a:ext cx="1143000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48055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term_36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448055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+0.7371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4805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Calibri"/>
              </a:rPr>
              <a:t>-9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448055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Shorter term = lower risk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764023"/>
            <a:ext cx="11430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81888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dti_lt_10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481888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+0.5454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8188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Calibri"/>
              </a:rPr>
              <a:t>-4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4818887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Low debt burden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102352"/>
            <a:ext cx="1143000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1572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fico_gt760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51572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+0.2757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51572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+4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0" y="515721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Excellent credit history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440679"/>
            <a:ext cx="11430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495543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inq_0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549554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+0.2776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549554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+4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5495543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No recent inquiries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5779007"/>
            <a:ext cx="1143000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583387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fico_640_680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3280" y="5833871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-0.3259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583387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+22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20" y="5833871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Below-average FICO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6117336"/>
            <a:ext cx="11430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617219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int_rate_117_148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83280" y="617219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-0.1313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61721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+16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61120" y="617219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Higher rate tier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10 Risk Classes &amp; ROI-Based Credit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14400"/>
            <a:ext cx="1097280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300–459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914400"/>
            <a:ext cx="1097280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460–499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914400"/>
            <a:ext cx="1097280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500–539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914400"/>
            <a:ext cx="1097280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540–579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914400"/>
            <a:ext cx="1097280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580–619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914400"/>
            <a:ext cx="1097280" cy="14630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620–659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914400"/>
            <a:ext cx="1097280" cy="14630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660–699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914400"/>
            <a:ext cx="1097280" cy="14630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700–739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914400"/>
            <a:ext cx="1097280" cy="1463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2980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740–779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018520" y="914400"/>
            <a:ext cx="1097280" cy="1463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852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780–850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560320"/>
            <a:ext cx="11430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2724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ROI = ( Interest Income − Expected Loss ) / Funded Amount × (12 / Term Months)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Decision Logic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160520"/>
            <a:ext cx="2011680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2245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AA, 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4270248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AUTO_APPROVE — excellent borrowers, clearest risk signal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828031"/>
            <a:ext cx="201168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892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600" y="493776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AUTO_REJECT — highest default probability, no ROI calculation needed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495544"/>
            <a:ext cx="2011680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5595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All others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5605272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APPROVE if annualized ROI &gt; 2.15% (US base rate, 2015) else REJECT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6080760"/>
            <a:ext cx="11430000" cy="59436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1904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Credit Policy Result: Default rate reduced from 25.27% → baseline   ·   ROI-optimal approval mix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L02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Final Features
(from 56)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894"/>
                </a:solidFill>
                <a:latin typeface="Calibri"/>
              </a:rPr>
              <a:t>0.693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OOT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894"/>
                </a:solidFill>
                <a:latin typeface="Calibri"/>
              </a:rPr>
              <a:t>0.387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OOT Gini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894"/>
                </a:solidFill>
                <a:latin typeface="Calibri"/>
              </a:rPr>
              <a:t>0.281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OOT 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Key Takeaways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9067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statsmodels provides Wald test p-values — mandatory for Basel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93591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Backward elimination removed 7 insignificant features (int_rate_088_117 was last at p=0.15)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9651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Grade is the dominant predictor: grade_A coefficient = 1.35 → 3.85× better odds vs F/G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99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Scorecard: PDO=20 means each 20-point increase doubles good:bad odds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0235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All 4 evaluation metrics pass OOT thresholds — model generalizes to 2016–2018 without refit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9260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NOTEBOOK 3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L03 — LGD, EAD
&amp; Expected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E8"/>
                </a:solidFill>
                <a:latin typeface="Calibri"/>
              </a:rPr>
              <a:t>Two-stage LGD · Credit Conversion Factor · EL = PD × LGD × EAD · $3.26B portfolio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6492240"/>
            <a:ext cx="1202436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D8"/>
                </a:solidFill>
                <a:latin typeface="Calibri"/>
              </a:rPr>
              <a:t>Credit Risk Modeling System  |  Lending Club 2007–2018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Three-Model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L03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3657600" cy="47548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PD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099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PREDICTS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842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Probability
of Default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786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243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TRAINING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86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All loans
(831K train)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930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130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Logistic Regression
(statsmodels)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074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531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274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 or 1
good_bad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914400"/>
            <a:ext cx="3657600" cy="47548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005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LGD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6642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17099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PREDICTS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19842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Loss Given
Default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5786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26243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TRAINING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28986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Defaulted only
(154K train)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4930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35387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ALGORITHM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8130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2-Stage:
Logistic + Linear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44074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4531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TARGET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7274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recovery_rate
[0,1]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914400"/>
            <a:ext cx="3657600" cy="47548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1005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EAD Model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16642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17099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PREDICTS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19842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Exposure at
Default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60" y="25786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26243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TRAINING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28986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Defaulted only
(154K train)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34930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35387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ALGORITHM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38130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Linear Regression
on CCF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60" y="44074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44531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TARGET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7274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ccf
[0,1]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852160"/>
            <a:ext cx="114300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Expected Loss  =  PD  ×  LGD  ×  EAD  =  PD  ×  (1 − Recovery Rate)  ×  (CCF × Funded Amount)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Two-Stage LGD Model — Why Two Stages?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L03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~24% of defaulted loans have exactly ZERO recovery. A single linear regression cannot model both 0s and positive values.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5394960" cy="2926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Stage 1 — 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F"/>
                </a:solidFill>
                <a:latin typeface="Calibri"/>
              </a:rPr>
              <a:t>ALL 154,761 defaulted loans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Target: Is Recovery Rate &gt; 0?
(1 = any recovery, 0 = total loss)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FF90"/>
                </a:solidFill>
                <a:latin typeface="Calibri"/>
              </a:rPr>
              <a:t>Train AUC = 0.673    OOT AUC = 0.522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2219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FF90"/>
                </a:solidFill>
                <a:latin typeface="Calibri"/>
              </a:rPr>
              <a:t>Train Gini = 0.346    OOT Gini = 0.043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783080"/>
            <a:ext cx="5394960" cy="2926080"/>
          </a:xfrm>
          <a:prstGeom prst="rect">
            <a:avLst/>
          </a:prstGeom>
          <a:solidFill>
            <a:srgbClr val="6C3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Stage 2 — Linear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F"/>
                </a:solidFill>
                <a:latin typeface="Calibri"/>
              </a:rPr>
              <a:t>Only 117,711 loans with RR &gt;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43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Target: How much was recovered?
(continuous, typically 0.05–0.80)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FF90"/>
                </a:solidFill>
                <a:latin typeface="Calibri"/>
              </a:rPr>
              <a:t>Train MAE = 6.03%    OOT MAE = 4.77%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2219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FF90"/>
                </a:solidFill>
                <a:latin typeface="Calibri"/>
              </a:rPr>
              <a:t>Train R² = 0.050      OOT R² = −0.003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  <a:latin typeface="Calibri"/>
              </a:rPr>
              <a:t>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92040"/>
            <a:ext cx="1143000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01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nsolas"/>
              </a:rPr>
              <a:t>Combined: Recovery Rate = P(RR&gt;0) × E[RR | RR&gt;0]     →     LGD = 1 − Recovery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589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D4FF"/>
                </a:solidFill>
                <a:latin typeface="Calibri"/>
              </a:rPr>
              <a:t>Combined OOT MAE = 6.71%    Mean predicted LGD = 92.2%    Mean actual LGD = 94.0%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EAD Model &amp; Portfolio Expected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L03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00" cy="2560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EAD — Credit Conversion 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CCF = (Funded − Total Paid) / Funded   →   EAD = CCF × Funded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Algorithm: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Linear Regression + StandardScaler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Training: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154,761 defaulted loans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Train MAE: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788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14.89%   OOT MAE ~15%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54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Mean CCF train: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0.390   Mean CCF OOT: 0.555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914400"/>
            <a:ext cx="557784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005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Portfolio Summary — OOT Test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48132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0FF"/>
                </a:solidFill>
                <a:latin typeface="Calibri"/>
              </a:rPr>
              <a:t>Total Loans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48132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538,515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2880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0FF"/>
                </a:solidFill>
                <a:latin typeface="Calibri"/>
              </a:rPr>
              <a:t>Total 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82880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$3.26 Billion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7627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0FF"/>
                </a:solidFill>
                <a:latin typeface="Calibri"/>
              </a:rPr>
              <a:t>Total Expected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17627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$650 Million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2374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0FF"/>
                </a:solidFill>
                <a:latin typeface="Calibri"/>
              </a:rPr>
              <a:t>Portfolio EL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523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19.93%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7121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0FF"/>
                </a:solidFill>
                <a:latin typeface="Calibri"/>
              </a:rPr>
              <a:t>Mean PD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87121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20.18%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21868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0FF"/>
                </a:solidFill>
                <a:latin typeface="Calibri"/>
              </a:rPr>
              <a:t>Mean LGD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21868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92.55%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74903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Credit Policy Impact — Approving only ROI-positive loans: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133087"/>
            <a:ext cx="1143000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206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206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Before Policy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206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After Policy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4206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544568"/>
            <a:ext cx="1143000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63600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Approval 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63600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63600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45.6%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463600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Reject 54.4% of loans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074920"/>
            <a:ext cx="114300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1663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Default 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51663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25.27%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1663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14.41%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51663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↓ 10.9 percentage points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605272"/>
            <a:ext cx="1143000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6967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Portfolio EL 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56967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19.93%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56967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8.50%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56967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↓ 45% reduction in 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L03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L03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E44AD"/>
                </a:solidFill>
                <a:latin typeface="Calibri"/>
              </a:rPr>
              <a:t>6.71%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LGD OOT MAE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92.2%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Mean LGD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2A"/>
                </a:solidFill>
                <a:latin typeface="Calibri"/>
              </a:rPr>
              <a:t>$3.26B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Portfolio 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894"/>
                </a:solidFill>
                <a:latin typeface="Calibri"/>
              </a:rPr>
              <a:t>14.41%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Post-policy
Default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Key Takeaways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90672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Two-stage LGD is necessary because 24% of defaulted loans have exactly zero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75304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Stage 1 (logistic) separates loans with and without recovery — AUC 0.67 on 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59935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Stage 2 (linear) estimates how much is recovered given RR&gt;0 — MAE 4.77% on 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44568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Beta regression is theoretically purer but gives similar MAE (~5%); two-stage wins on interpretability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EAD CCF mean shifts from 0.39 (train) to 0.56 (OOT) — 2016–2018 loans defaulted earlier in their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13832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Credit policy reduces EL rate: 19.9% → 8.5% by rejecting ROI-negative loans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9260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NOTEBOOK 4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L04 — Population Stability
Index &amp; Model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E8"/>
                </a:solidFill>
                <a:latin typeface="Calibri"/>
              </a:rPr>
              <a:t>PSI formula · Drift detection · Score PSI 0.282 · ALERT verdict · Action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6492240"/>
            <a:ext cx="1202436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D8"/>
                </a:solidFill>
                <a:latin typeface="Calibri"/>
              </a:rPr>
              <a:t>Credit Risk Modeling System  |  Lending Club 2007–2018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Population Stability Index — Formula &amp;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L04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onsolas"/>
              </a:rPr>
              <a:t>PSI  =  Σ  ( Aᵢ − Eᵢ )  ×  ln( Aᵢ / Eᵢ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4E8"/>
                </a:solidFill>
                <a:latin typeface="Calibri"/>
              </a:rPr>
              <a:t>Aᵢ = Actual % in bucket i (monitoring population)      Eᵢ = Expected % (training reference)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3657600" cy="3657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&lt; 0.10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56432"/>
            <a:ext cx="33832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No significant population shift.
Model is applicable. Continue quarterly monitoring.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423160"/>
            <a:ext cx="3657600" cy="3657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34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0.10 – 0.25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456432"/>
            <a:ext cx="33832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114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Moderate shift detected.
Investigate root cause. Validate Gini/KS on new data.
Consider intercept recalibration.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423160"/>
            <a:ext cx="3657600" cy="3657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34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&gt; 0.25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3456432"/>
            <a:ext cx="33832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14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Major population shift.
Model must be rebuilt.
Retrain on more recent data (last 2–3 years).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309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PSI = 0 means identical distributions. As populations diverge, each term grows → PSI increases.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PSI Results — OOT 2016–2018 vs 2007–2015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L04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9875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875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9875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353312"/>
            <a:ext cx="11430000" cy="48463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4264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mths_since_issue_d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463040"/>
            <a:ext cx="2286000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14447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12.7624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44475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4447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Time variable — expected high (different issue dates)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856232"/>
            <a:ext cx="11430000" cy="484632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9293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mths_since_earliest_cr_line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965960"/>
            <a:ext cx="1261872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19476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0.1656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4767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  <a:latin typeface="Calibri"/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19476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Credit history length has shifted slightly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359152"/>
            <a:ext cx="11430000" cy="48463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4323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credit_score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2468880"/>
            <a:ext cx="832866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866" y="24505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0.2820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45059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  <a:latin typeface="Calibri"/>
              </a:rPr>
              <a:t>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4505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Score distribution shift exceeds ALERT threshold — model rebuild required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862072"/>
            <a:ext cx="11430000" cy="484632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9352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grade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2971800"/>
            <a:ext cx="701040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0040" y="29535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0.0920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95351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9535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Grade mix relatively stable 2007→2015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64992"/>
            <a:ext cx="11430000" cy="48463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4381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int_rate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3474720"/>
            <a:ext cx="637032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6031" y="34564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0.0836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45643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4564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Interest rate distribution unchanged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867912"/>
            <a:ext cx="11430000" cy="484632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9410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home_ownership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3977640"/>
            <a:ext cx="396240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25240" y="39593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0.0520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95935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39593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Ownership mix stable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370832"/>
            <a:ext cx="11430000" cy="48463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4439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purpose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80" y="4480560"/>
            <a:ext cx="289560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18560" y="44622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0.0380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46227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44622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Loan purpose mix stable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873752"/>
            <a:ext cx="11430000" cy="484632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9469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emp_length_int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80" y="4983480"/>
            <a:ext cx="84582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13582" y="49651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0.0111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496519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49651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Employment length unchanged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376672"/>
            <a:ext cx="11430000" cy="48463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4498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annual_inc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83280" y="5486400"/>
            <a:ext cx="65532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94532" y="54681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0.0086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546811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79" y="54681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Income distribution stable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5879592"/>
            <a:ext cx="11430000" cy="484632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9527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dti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83280" y="5989320"/>
            <a:ext cx="59436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88436" y="597103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0.0078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5971031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5279" y="5971031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Debt-to-income ratio unchanged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Credit Score PSI — Key Monitoring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L04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Reference (2007–2015): mean = 672.4  std = 28.1
Actual   (2016–2018):   mean = 689.1  std = 24.8  (+16.7 pts)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914400"/>
            <a:ext cx="5394960" cy="9144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005840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Score PSI = 0.282  →  ALERT
OOT borrowers score higher but default more — ALERT: major population shift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PSI Bucket Breakdown (10 equal-frequency buckets on reference):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1143000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420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Score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5420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Ref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5420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Actual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5420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PSI Contrib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5420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Direction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52928"/>
            <a:ext cx="11430000" cy="329184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0779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-∞ to 644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9077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9077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4.0%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9077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0.0832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90779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▼ Fewer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00400"/>
            <a:ext cx="114300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5526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644 to 656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25526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9.5%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25526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7.2%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25526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25526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▼ Fewer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47872"/>
            <a:ext cx="11430000" cy="329184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60273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656 to 665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36027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9.5%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6027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8.1%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6027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60273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▼ Fewer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895344"/>
            <a:ext cx="114300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950207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665 to 673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3950207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9.8%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3950207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8.5%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3950207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395020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▼ Fewer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242816"/>
            <a:ext cx="11430000" cy="329184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2976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673 to 681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42976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10.5%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2976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9.5%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2976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42976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▼ Fewer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590288"/>
            <a:ext cx="114300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645151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681 to 688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88920" y="4645151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9.4%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4645151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9.2%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4645151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4645151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▼ Fewer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937760"/>
            <a:ext cx="11430000" cy="329184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99262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688 to 696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88920" y="49926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10.6%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49926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11.1%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9480" y="49926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9760" y="499262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8D4"/>
                </a:solidFill>
                <a:latin typeface="Calibri"/>
              </a:rPr>
              <a:t>▲ More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285232"/>
            <a:ext cx="114300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34009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696 to 704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53400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9.8%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0" y="53400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11.5%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9480" y="53400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0.0027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09760" y="534009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8D4"/>
                </a:solidFill>
                <a:latin typeface="Calibri"/>
              </a:rPr>
              <a:t>▲ More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5632704"/>
            <a:ext cx="11430000" cy="329184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68756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704 to 715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88920" y="56875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10.7%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56875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  <a:latin typeface="Calibri"/>
              </a:rPr>
              <a:t>14.6%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69480" y="56875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0.0125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09760" y="568756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8D4"/>
                </a:solidFill>
                <a:latin typeface="Calibri"/>
              </a:rPr>
              <a:t>▲ More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980176"/>
            <a:ext cx="114300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603504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715 to ∞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88920" y="60350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10.3%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0" y="60350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  <a:latin typeface="Calibri"/>
              </a:rPr>
              <a:t>16.3%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69480" y="60350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0.0274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09760" y="603504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8D4"/>
                </a:solidFill>
                <a:latin typeface="Calibri"/>
              </a:rPr>
              <a:t>▲ More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 Monitoring Framework &amp; Action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L04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OUR VERDICT:  Score PSI = 0.282 → ALERT | 7 Stable  ·  1 Monitor  ·  3 Alert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1143000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81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581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PSI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581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581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Recommended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11430000" cy="7772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920240"/>
            <a:ext cx="128016" cy="7772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Score PSI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&lt; 0.10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9659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Quarterly PSI run, no changes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24912"/>
            <a:ext cx="1143000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724912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Score PSI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0.10 – 0.19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MODERATE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77063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Validate Gini/KS. If drop &lt; 5pp: monthly monitoring.
If 5–10pp: intercept recalibration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529584"/>
            <a:ext cx="11430000" cy="7772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529584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6210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Score PSI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6210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0.19 – 0.25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6210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SIGNIFICANT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575304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High priority. Retrain on recent data. Update WoE bins
for high-PSI variables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334256"/>
            <a:ext cx="1143000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334256"/>
            <a:ext cx="128016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4256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Score PSI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4256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&gt; 0.25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4256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CRITICAL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37997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Begin model redevelopment. New training window.
Recalibration applied (δ=+0.32) · Next: XGBoost + SHAP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193792"/>
            <a:ext cx="1143000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285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Complete Monitoring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6509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Gini (OOT)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925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4E8"/>
                </a:solidFill>
                <a:latin typeface="Calibri"/>
              </a:rPr>
              <a:t>🟢&gt;0.40 🟡0.35–0.40 🔴&lt;0.35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56509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KS (OOT)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5925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4E8"/>
                </a:solidFill>
                <a:latin typeface="Calibri"/>
              </a:rPr>
              <a:t>🟢&gt;0.25 🟡0.20–0.25 🔴&lt;0.20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6509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Score PSI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925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4E8"/>
                </a:solidFill>
                <a:latin typeface="Calibri"/>
              </a:rPr>
              <a:t>🟢&lt;0.10 🟡0.10–0.25 🔴&gt;0.25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56509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Var PSI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5925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4E8"/>
                </a:solidFill>
                <a:latin typeface="Calibri"/>
              </a:rPr>
              <a:t>🟢&lt;0.10 🟡0.10–0.25 🔴&gt;0.25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9260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TRACK 2 —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Production Pipeline
&amp; Live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E8"/>
                </a:solidFill>
                <a:latin typeface="Calibri"/>
              </a:rPr>
              <a:t>8 Docker services · FastAPI scoring endpoint · Airflow DAGs · MLflow registry · Grafana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6492240"/>
            <a:ext cx="1202436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D8"/>
                </a:solidFill>
                <a:latin typeface="Calibri"/>
              </a:rPr>
              <a:t>Credit Risk Modeling System  |  Lending Club 2007–2018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Production Architecture — 8 Docker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2743200" cy="2286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PostgreSQL
:5432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6-schema warehouse
raw·staging·features
models·risk·audit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05840"/>
            <a:ext cx="2743200" cy="2286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1155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MinIO
:9000/9001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78308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S3-compatible
data lake
3 buckets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2743200" cy="2286000"/>
          </a:xfrm>
          <a:prstGeom prst="rect">
            <a:avLst/>
          </a:prstGeom>
          <a:solidFill>
            <a:srgbClr val="17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1155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Spark
:8080/7077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8308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Big data
processing
2 jobs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005840"/>
            <a:ext cx="2743200" cy="2286000"/>
          </a:xfrm>
          <a:prstGeom prst="rect">
            <a:avLst/>
          </a:prstGeom>
          <a:solidFill>
            <a:srgbClr val="134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1155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Airflow
:8081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78308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8 DAGs
orchestrating
full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2743200" cy="2286000"/>
          </a:xfrm>
          <a:prstGeom prst="rect">
            <a:avLst/>
          </a:prstGeom>
          <a:solidFill>
            <a:srgbClr val="0F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75887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MLflow
:5001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434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Experiment
tracking &amp;
model registry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566160"/>
            <a:ext cx="2743200" cy="22860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675887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FastAPI
:8000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3434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Real-time
scoring
endpoint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566160"/>
            <a:ext cx="2743200" cy="228600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675887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Prometheus
:9090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3434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Metrics
collection &amp;
alerts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566160"/>
            <a:ext cx="2743200" cy="2286000"/>
          </a:xfrm>
          <a:prstGeom prst="rect">
            <a:avLst/>
          </a:prstGeom>
          <a:solidFill>
            <a:srgbClr val="6E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3675887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Grafana
:3000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3434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Dashboards
&amp; monitoring
visuals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Data Flow: CSV → MinIO → Spark ingestion → PostgreSQL → Airflow (8 DAGs) → MLflow training → FastAPI scoring → Grafana dashboards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FastAPI Scoring Endpoint —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00" cy="5212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Request — POST /score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44752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FF90"/>
                </a:solidFill>
                <a:latin typeface="Consolas"/>
              </a:rPr>
              <a:t>{
  "loan_amnt": 15000,
  "funded_amnt": 15000,
  "term_int": 36,
  "int_rate": 0.1199,
  "grade": "B",
  "annual_inc": 75000,
  "fico_score": 710,
  "dti": 18.5,
  "revol_util": 0.42,
  "inq_last_6mths": 1,
  "home_ownership": "MORTGAGE",
  "purpose": "debt_consolidation"
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577840" cy="5212080"/>
          </a:xfrm>
          <a:prstGeom prst="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058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"pd":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0.030303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5361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3.0% probability of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"lgd":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0.45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0848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45% loss given 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"ead":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$15,000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6334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Full exposure at default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"expected_loss":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$204.55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1821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PD × LGD × 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"credit_score":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700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7307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AB risk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"risk_class":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"AB"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42793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Score range 700–739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7548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"decision":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7548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Consolas"/>
              </a:rPr>
              <a:t>APPROVE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482803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ROI &gt; 2.15% base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"annualized_roi":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303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Consolas"/>
              </a:rPr>
              <a:t>11.54%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53766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Net return after 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309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Response time: &lt; 50ms  ·  ECOA Reg B adverse-action codes  ·  IFRS 9 stage classification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Airflow DAGs — 6 Core + 2 Support (8 Total)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9875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9875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89888"/>
            <a:ext cx="11430000" cy="7498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389888"/>
            <a:ext cx="109728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solas"/>
              </a:rPr>
              <a:t>01_ingestion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5910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Manual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5544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Spark: CSV from MinIO → raw.loan_applications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67128"/>
            <a:ext cx="1143000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167128"/>
            <a:ext cx="109728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331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solas"/>
              </a:rPr>
              <a:t>02_cleaning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3682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Manual 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331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Spark: raw → staging.loans_cleaned + OOT split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44368"/>
            <a:ext cx="11430000" cy="7498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944368"/>
            <a:ext cx="109728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108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solas"/>
              </a:rPr>
              <a:t>03_pd_training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1455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Manual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1089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Logistic regression + backward elim → scorecard.csv + MLflow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21608"/>
            <a:ext cx="1143000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721608"/>
            <a:ext cx="109728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886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solas"/>
              </a:rPr>
              <a:t>04_lgd_ead_training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9227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Manual 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8862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2-stage LGD + EAD → pkl files + MLflow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498848"/>
            <a:ext cx="11430000" cy="7498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498848"/>
            <a:ext cx="109728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663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solas"/>
              </a:rPr>
              <a:t>05_batch_scoring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7000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Manual trigger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6634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Score all OOT loans → risk.expected_loss table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276088"/>
            <a:ext cx="1143000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276088"/>
            <a:ext cx="109728" cy="7498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4406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solas"/>
              </a:rPr>
              <a:t>06_monitoring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547725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Daily 6am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44067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PSI for all variables → risk.population_stability +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26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All 8 DAGs running. Master pipeline chains 01→02→02b→03→04→05→06 automatically. PSI ALERT active.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9260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Project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E8"/>
                </a:solidFill>
                <a:latin typeface="Calibri"/>
              </a:rPr>
              <a:t>From raw CSV to production scoring API — end-to-end credit risk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6492240"/>
            <a:ext cx="1202436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D8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2743200" cy="2560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Preprocessing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04288"/>
            <a:ext cx="2468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95728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  <a:latin typeface="Calibri"/>
              </a:rPr>
              <a:t>831K train · 56 WoE dummies
OOT split 2007-15 / 2016-18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188720"/>
            <a:ext cx="2743200" cy="2560320"/>
          </a:xfrm>
          <a:prstGeom prst="rect">
            <a:avLst/>
          </a:prstGeom>
          <a:solidFill>
            <a:srgbClr val="6C3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2984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PD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2304288"/>
            <a:ext cx="2468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395728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  <a:latin typeface="Calibri"/>
              </a:rPr>
              <a:t>49 features · AUC 0.693
Scorecard 300–850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2743200" cy="25603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2984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LGD / EAD / 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304288"/>
            <a:ext cx="2468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395728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  <a:latin typeface="Calibri"/>
              </a:rPr>
              <a:t>2-stage LGD MAE 6.7%
$3.26B EAD · $650M 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188720"/>
            <a:ext cx="2743200" cy="2560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12984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PSI Monitoring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2304288"/>
            <a:ext cx="2468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2395728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  <a:latin typeface="Calibri"/>
              </a:rPr>
              <a:t>Score PSI 0.282 ALERT
7 stable · 1 monitor · 3 alert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77639"/>
            <a:ext cx="2148840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69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0.693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0FF"/>
                </a:solidFill>
                <a:latin typeface="Calibri"/>
              </a:rPr>
              <a:t>OOT AUC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977639"/>
            <a:ext cx="2148840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4069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0.386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0FF"/>
                </a:solidFill>
                <a:latin typeface="Calibri"/>
              </a:rPr>
              <a:t>OOT Gini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3977639"/>
            <a:ext cx="2148840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0" y="4069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$650M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0FF"/>
                </a:solidFill>
                <a:latin typeface="Calibri"/>
              </a:rPr>
              <a:t>Portfolio 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3977639"/>
            <a:ext cx="2148840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069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0.282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0FF"/>
                </a:solidFill>
                <a:latin typeface="Calibri"/>
              </a:rPr>
              <a:t>Score PSI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3977639"/>
            <a:ext cx="2148840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4069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&lt; 50ms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0FF"/>
                </a:solidFill>
                <a:latin typeface="Calibri"/>
              </a:rPr>
              <a:t>API Response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349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D4FF"/>
                </a:solidFill>
                <a:latin typeface="Calibri"/>
              </a:rPr>
              <a:t>Regulatory compliance: IFRS 9 · Basel III · SR 11-7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0B4E0"/>
                </a:solidFill>
                <a:latin typeface="Calibri"/>
              </a:rPr>
              <a:t>Production stack: PySpark · PostgreSQL · Airflow · MLflow · FastAPI · Prometheus · Grafana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